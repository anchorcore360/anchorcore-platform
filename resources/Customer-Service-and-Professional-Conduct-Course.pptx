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x="12192000" cy="6858000"/>
  <p:notesSz cx="6858000" cy="12192000"/>
  <p:embeddedFontLst>
    <p:embeddedFont>
      <p:font typeface="Inter" panose="020B0604020202020204" charset="0"/>
      <p:regular r:id="rId32"/>
    </p:embeddedFont>
    <p:embeddedFont>
      <p:font typeface="Inter Bold" panose="020B0604020202020204" charset="0"/>
      <p:regular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sley Marsden" userId="651327cc-5a29-455e-9765-dc765e6bc865" providerId="ADAL" clId="{924F971D-E237-482C-BB61-A0F6EB9D5596}"/>
    <pc:docChg chg="custSel modSld">
      <pc:chgData name="Wesley Marsden" userId="651327cc-5a29-455e-9765-dc765e6bc865" providerId="ADAL" clId="{924F971D-E237-482C-BB61-A0F6EB9D5596}" dt="2026-08-27T11:55:17.107" v="33" actId="20577"/>
      <pc:docMkLst>
        <pc:docMk/>
      </pc:docMkLst>
      <pc:sldChg chg="modSp mod">
        <pc:chgData name="Wesley Marsden" userId="651327cc-5a29-455e-9765-dc765e6bc865" providerId="ADAL" clId="{924F971D-E237-482C-BB61-A0F6EB9D5596}" dt="2026-08-27T11:52:51.798" v="3" actId="33524"/>
        <pc:sldMkLst>
          <pc:docMk/>
          <pc:sldMk cId="0" sldId="264"/>
        </pc:sldMkLst>
        <pc:spChg chg="mod">
          <ac:chgData name="Wesley Marsden" userId="651327cc-5a29-455e-9765-dc765e6bc865" providerId="ADAL" clId="{924F971D-E237-482C-BB61-A0F6EB9D5596}" dt="2026-08-27T11:52:51.798" v="3" actId="33524"/>
          <ac:spMkLst>
            <pc:docMk/>
            <pc:sldMk cId="0" sldId="264"/>
            <ac:spMk id="5" creationId="{00000000-0000-0000-0000-000000000000}"/>
          </ac:spMkLst>
        </pc:spChg>
      </pc:sldChg>
      <pc:sldChg chg="modSp mod">
        <pc:chgData name="Wesley Marsden" userId="651327cc-5a29-455e-9765-dc765e6bc865" providerId="ADAL" clId="{924F971D-E237-482C-BB61-A0F6EB9D5596}" dt="2026-08-27T11:53:41.589" v="20" actId="20577"/>
        <pc:sldMkLst>
          <pc:docMk/>
          <pc:sldMk cId="0" sldId="268"/>
        </pc:sldMkLst>
        <pc:spChg chg="mod">
          <ac:chgData name="Wesley Marsden" userId="651327cc-5a29-455e-9765-dc765e6bc865" providerId="ADAL" clId="{924F971D-E237-482C-BB61-A0F6EB9D5596}" dt="2026-08-27T11:53:14.549" v="6" actId="20577"/>
          <ac:spMkLst>
            <pc:docMk/>
            <pc:sldMk cId="0" sldId="268"/>
            <ac:spMk id="3" creationId="{00000000-0000-0000-0000-000000000000}"/>
          </ac:spMkLst>
        </pc:spChg>
        <pc:spChg chg="mod">
          <ac:chgData name="Wesley Marsden" userId="651327cc-5a29-455e-9765-dc765e6bc865" providerId="ADAL" clId="{924F971D-E237-482C-BB61-A0F6EB9D5596}" dt="2026-08-27T11:53:41.589" v="20" actId="20577"/>
          <ac:spMkLst>
            <pc:docMk/>
            <pc:sldMk cId="0" sldId="268"/>
            <ac:spMk id="19" creationId="{00000000-0000-0000-0000-000000000000}"/>
          </ac:spMkLst>
        </pc:spChg>
      </pc:sldChg>
      <pc:sldChg chg="modSp mod">
        <pc:chgData name="Wesley Marsden" userId="651327cc-5a29-455e-9765-dc765e6bc865" providerId="ADAL" clId="{924F971D-E237-482C-BB61-A0F6EB9D5596}" dt="2026-08-27T11:53:57.537" v="22" actId="1076"/>
        <pc:sldMkLst>
          <pc:docMk/>
          <pc:sldMk cId="0" sldId="270"/>
        </pc:sldMkLst>
        <pc:spChg chg="mod">
          <ac:chgData name="Wesley Marsden" userId="651327cc-5a29-455e-9765-dc765e6bc865" providerId="ADAL" clId="{924F971D-E237-482C-BB61-A0F6EB9D5596}" dt="2026-08-27T11:53:57.537" v="22" actId="1076"/>
          <ac:spMkLst>
            <pc:docMk/>
            <pc:sldMk cId="0" sldId="270"/>
            <ac:spMk id="7" creationId="{00000000-0000-0000-0000-000000000000}"/>
          </ac:spMkLst>
        </pc:spChg>
        <pc:spChg chg="mod">
          <ac:chgData name="Wesley Marsden" userId="651327cc-5a29-455e-9765-dc765e6bc865" providerId="ADAL" clId="{924F971D-E237-482C-BB61-A0F6EB9D5596}" dt="2026-08-27T11:53:54.023" v="21" actId="1076"/>
          <ac:spMkLst>
            <pc:docMk/>
            <pc:sldMk cId="0" sldId="270"/>
            <ac:spMk id="8" creationId="{00000000-0000-0000-0000-000000000000}"/>
          </ac:spMkLst>
        </pc:spChg>
      </pc:sldChg>
      <pc:sldChg chg="modSp mod">
        <pc:chgData name="Wesley Marsden" userId="651327cc-5a29-455e-9765-dc765e6bc865" providerId="ADAL" clId="{924F971D-E237-482C-BB61-A0F6EB9D5596}" dt="2026-08-27T11:55:17.107" v="33" actId="20577"/>
        <pc:sldMkLst>
          <pc:docMk/>
          <pc:sldMk cId="0" sldId="274"/>
        </pc:sldMkLst>
        <pc:spChg chg="mod">
          <ac:chgData name="Wesley Marsden" userId="651327cc-5a29-455e-9765-dc765e6bc865" providerId="ADAL" clId="{924F971D-E237-482C-BB61-A0F6EB9D5596}" dt="2026-08-27T11:55:07.064" v="25" actId="20577"/>
          <ac:spMkLst>
            <pc:docMk/>
            <pc:sldMk cId="0" sldId="274"/>
            <ac:spMk id="6" creationId="{00000000-0000-0000-0000-000000000000}"/>
          </ac:spMkLst>
        </pc:spChg>
        <pc:spChg chg="mod">
          <ac:chgData name="Wesley Marsden" userId="651327cc-5a29-455e-9765-dc765e6bc865" providerId="ADAL" clId="{924F971D-E237-482C-BB61-A0F6EB9D5596}" dt="2026-08-27T11:55:17.107" v="33" actId="20577"/>
          <ac:spMkLst>
            <pc:docMk/>
            <pc:sldMk cId="0" sldId="274"/>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6607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2D2D2"/>
          </a:solidFill>
          <a:ln/>
        </p:spPr>
        <p:txBody>
          <a:bodyPr/>
          <a:lstStyle/>
          <a:p>
            <a:endParaRPr lang="en-GB"/>
          </a:p>
        </p:txBody>
      </p:sp>
      <p:sp>
        <p:nvSpPr>
          <p:cNvPr id="3" name="Shape 1"/>
          <p:cNvSpPr/>
          <p:nvPr/>
        </p:nvSpPr>
        <p:spPr>
          <a:xfrm>
            <a:off x="0" y="0"/>
            <a:ext cx="12191695" cy="6858000"/>
          </a:xfrm>
          <a:prstGeom prst="rect">
            <a:avLst/>
          </a:prstGeom>
          <a:solidFill>
            <a:srgbClr val="F5F5F5">
              <a:alpha val="95000"/>
            </a:srgbClr>
          </a:solid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sv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3.svg"/><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029074" cy="6858000"/>
          </a:xfrm>
          <a:prstGeom prst="rect">
            <a:avLst/>
          </a:prstGeom>
        </p:spPr>
      </p:pic>
      <p:pic>
        <p:nvPicPr>
          <p:cNvPr id="3" name="Image 1" descr="preencoded.png"/>
          <p:cNvPicPr>
            <a:picLocks noChangeAspect="1"/>
          </p:cNvPicPr>
          <p:nvPr/>
        </p:nvPicPr>
        <p:blipFill>
          <a:blip r:embed="rId4"/>
          <a:stretch>
            <a:fillRect/>
          </a:stretch>
        </p:blipFill>
        <p:spPr>
          <a:xfrm>
            <a:off x="5233360" y="1610717"/>
            <a:ext cx="3214706" cy="1404838"/>
          </a:xfrm>
          <a:prstGeom prst="rect">
            <a:avLst/>
          </a:prstGeom>
        </p:spPr>
      </p:pic>
      <p:sp>
        <p:nvSpPr>
          <p:cNvPr id="4" name="Text 0"/>
          <p:cNvSpPr/>
          <p:nvPr/>
        </p:nvSpPr>
        <p:spPr>
          <a:xfrm>
            <a:off x="5233360" y="3263602"/>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Customer Service &amp; Professional Conduct</a:t>
            </a:r>
            <a:endParaRPr lang="en-US" sz="3250" dirty="0"/>
          </a:p>
        </p:txBody>
      </p:sp>
      <p:sp>
        <p:nvSpPr>
          <p:cNvPr id="5" name="Text 1"/>
          <p:cNvSpPr/>
          <p:nvPr/>
        </p:nvSpPr>
        <p:spPr>
          <a:xfrm>
            <a:off x="5233360" y="4545112"/>
            <a:ext cx="6906444" cy="264616"/>
          </a:xfrm>
          <a:prstGeom prst="rect">
            <a:avLst/>
          </a:prstGeom>
          <a:noFill/>
          <a:ln/>
        </p:spPr>
        <p:txBody>
          <a:bodyPr wrap="none" lIns="0" tIns="0" rIns="0" bIns="0" rtlCol="0" anchor="t"/>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Face-to-Face Course for Field Engineers</a:t>
            </a:r>
            <a:endParaRPr lang="en-US" sz="1300" dirty="0"/>
          </a:p>
        </p:txBody>
      </p:sp>
      <p:sp>
        <p:nvSpPr>
          <p:cNvPr id="6" name="Shape 2"/>
          <p:cNvSpPr/>
          <p:nvPr/>
        </p:nvSpPr>
        <p:spPr>
          <a:xfrm>
            <a:off x="5233360" y="4995763"/>
            <a:ext cx="784106" cy="251420"/>
          </a:xfrm>
          <a:prstGeom prst="roundRect">
            <a:avLst>
              <a:gd name="adj" fmla="val 49999"/>
            </a:avLst>
          </a:prstGeom>
          <a:noFill/>
          <a:ln w="6350">
            <a:solidFill>
              <a:srgbClr val="8B0B0D"/>
            </a:solidFill>
            <a:prstDash val="solid"/>
          </a:ln>
        </p:spPr>
        <p:txBody>
          <a:bodyPr/>
          <a:lstStyle/>
          <a:p>
            <a:endParaRPr lang="en-GB"/>
          </a:p>
        </p:txBody>
      </p:sp>
      <p:sp>
        <p:nvSpPr>
          <p:cNvPr id="7" name="Text 3"/>
          <p:cNvSpPr/>
          <p:nvPr/>
        </p:nvSpPr>
        <p:spPr>
          <a:xfrm>
            <a:off x="5332577" y="5045373"/>
            <a:ext cx="1195258" cy="152202"/>
          </a:xfrm>
          <a:prstGeom prst="rect">
            <a:avLst/>
          </a:prstGeom>
          <a:noFill/>
          <a:ln/>
        </p:spPr>
        <p:txBody>
          <a:bodyPr wrap="none" lIns="0" tIns="0" rIns="0" bIns="0" rtlCol="0" anchor="t"/>
          <a:lstStyle/>
          <a:p>
            <a:pPr marL="0" indent="0" algn="l">
              <a:lnSpc>
                <a:spcPct val="96000"/>
              </a:lnSpc>
              <a:buNone/>
            </a:pPr>
            <a:r>
              <a:rPr lang="en-US" sz="1000" dirty="0">
                <a:solidFill>
                  <a:srgbClr val="8B0B0D"/>
                </a:solidFill>
                <a:latin typeface="Inter" pitchFamily="34" charset="0"/>
                <a:ea typeface="Inter" pitchFamily="34" charset="-122"/>
                <a:cs typeface="Inter" pitchFamily="34" charset="-120"/>
              </a:rPr>
              <a:t>2 HOURS</a:t>
            </a:r>
            <a:endParaRPr lang="en-US" sz="1000" dirty="0"/>
          </a:p>
        </p:txBody>
      </p:sp>
      <p:sp>
        <p:nvSpPr>
          <p:cNvPr id="8" name="Shape 4"/>
          <p:cNvSpPr/>
          <p:nvPr/>
        </p:nvSpPr>
        <p:spPr>
          <a:xfrm>
            <a:off x="6100114" y="4995763"/>
            <a:ext cx="932335" cy="251420"/>
          </a:xfrm>
          <a:prstGeom prst="roundRect">
            <a:avLst>
              <a:gd name="adj" fmla="val 49999"/>
            </a:avLst>
          </a:prstGeom>
          <a:noFill/>
          <a:ln w="6350">
            <a:solidFill>
              <a:srgbClr val="8B0B0D"/>
            </a:solidFill>
            <a:prstDash val="solid"/>
          </a:ln>
        </p:spPr>
        <p:txBody>
          <a:bodyPr/>
          <a:lstStyle/>
          <a:p>
            <a:endParaRPr lang="en-GB"/>
          </a:p>
        </p:txBody>
      </p:sp>
      <p:sp>
        <p:nvSpPr>
          <p:cNvPr id="9" name="Text 5"/>
          <p:cNvSpPr/>
          <p:nvPr/>
        </p:nvSpPr>
        <p:spPr>
          <a:xfrm>
            <a:off x="6199330" y="5045373"/>
            <a:ext cx="1343487" cy="152202"/>
          </a:xfrm>
          <a:prstGeom prst="rect">
            <a:avLst/>
          </a:prstGeom>
          <a:noFill/>
          <a:ln/>
        </p:spPr>
        <p:txBody>
          <a:bodyPr wrap="none" lIns="0" tIns="0" rIns="0" bIns="0" rtlCol="0" anchor="t"/>
          <a:lstStyle/>
          <a:p>
            <a:pPr marL="0" indent="0" algn="l">
              <a:lnSpc>
                <a:spcPct val="96000"/>
              </a:lnSpc>
              <a:buNone/>
            </a:pPr>
            <a:r>
              <a:rPr lang="en-US" sz="1000" dirty="0">
                <a:solidFill>
                  <a:srgbClr val="8B0B0D"/>
                </a:solidFill>
                <a:latin typeface="Inter" pitchFamily="34" charset="0"/>
                <a:ea typeface="Inter" pitchFamily="34" charset="-122"/>
                <a:cs typeface="Inter" pitchFamily="34" charset="-120"/>
              </a:rPr>
              <a:t>PRACTICAL</a:t>
            </a:r>
            <a:endParaRPr lang="en-US" sz="1000" dirty="0"/>
          </a:p>
        </p:txBody>
      </p:sp>
      <p:sp>
        <p:nvSpPr>
          <p:cNvPr id="10" name="Shape 6"/>
          <p:cNvSpPr/>
          <p:nvPr/>
        </p:nvSpPr>
        <p:spPr>
          <a:xfrm>
            <a:off x="7115096" y="4995763"/>
            <a:ext cx="1182658" cy="251420"/>
          </a:xfrm>
          <a:prstGeom prst="roundRect">
            <a:avLst>
              <a:gd name="adj" fmla="val 49999"/>
            </a:avLst>
          </a:prstGeom>
          <a:noFill/>
          <a:ln w="6350">
            <a:solidFill>
              <a:srgbClr val="8B0B0D"/>
            </a:solidFill>
            <a:prstDash val="solid"/>
          </a:ln>
        </p:spPr>
        <p:txBody>
          <a:bodyPr/>
          <a:lstStyle/>
          <a:p>
            <a:endParaRPr lang="en-GB"/>
          </a:p>
        </p:txBody>
      </p:sp>
      <p:sp>
        <p:nvSpPr>
          <p:cNvPr id="11" name="Text 7"/>
          <p:cNvSpPr/>
          <p:nvPr/>
        </p:nvSpPr>
        <p:spPr>
          <a:xfrm>
            <a:off x="7214312" y="5045373"/>
            <a:ext cx="1593810" cy="152202"/>
          </a:xfrm>
          <a:prstGeom prst="rect">
            <a:avLst/>
          </a:prstGeom>
          <a:noFill/>
          <a:ln/>
        </p:spPr>
        <p:txBody>
          <a:bodyPr wrap="none" lIns="0" tIns="0" rIns="0" bIns="0" rtlCol="0" anchor="t"/>
          <a:lstStyle/>
          <a:p>
            <a:pPr marL="0" indent="0" algn="l">
              <a:lnSpc>
                <a:spcPct val="96000"/>
              </a:lnSpc>
              <a:buNone/>
            </a:pPr>
            <a:r>
              <a:rPr lang="en-US" sz="1000" dirty="0">
                <a:solidFill>
                  <a:srgbClr val="8B0B0D"/>
                </a:solidFill>
                <a:latin typeface="Inter" pitchFamily="34" charset="0"/>
                <a:ea typeface="Inter" pitchFamily="34" charset="-122"/>
                <a:cs typeface="Inter" pitchFamily="34" charset="-120"/>
              </a:rPr>
              <a:t>SCENARIO-LED</a:t>
            </a:r>
            <a:endParaRPr lang="en-US" sz="1000" dirty="0"/>
          </a:p>
        </p:txBody>
      </p:sp>
      <p:pic>
        <p:nvPicPr>
          <p:cNvPr id="13" name="RRTA corner logo" descr="Rapid Response Training Academy logo">
            <a:extLst>
              <a:ext uri="{FF2B5EF4-FFF2-40B4-BE49-F238E27FC236}">
                <a16:creationId xmlns:a16="http://schemas.microsoft.com/office/drawing/2014/main" id="{88C39EC5-6A5B-269B-61F6-DE7ADA639B11}"/>
              </a:ext>
            </a:extLst>
          </p:cNvPr>
          <p:cNvPicPr>
            <a:picLocks noChangeAspect="1"/>
          </p:cNvPicPr>
          <p:nvPr/>
        </p:nvPicPr>
        <p:blipFill>
          <a:blip r:embed="rId5">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2043410"/>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Why Does Customer Service Matter?</a:t>
            </a:r>
            <a:endParaRPr lang="en-US" sz="3250" dirty="0"/>
          </a:p>
        </p:txBody>
      </p:sp>
      <p:sp>
        <p:nvSpPr>
          <p:cNvPr id="3" name="Text 1"/>
          <p:cNvSpPr/>
          <p:nvPr/>
        </p:nvSpPr>
        <p:spPr>
          <a:xfrm>
            <a:off x="661475" y="2890838"/>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As a field engineer, you are often the </a:t>
            </a:r>
            <a:r>
              <a:rPr lang="en-US" sz="1300" b="1" dirty="0">
                <a:solidFill>
                  <a:srgbClr val="333333"/>
                </a:solidFill>
                <a:latin typeface="Inter Bold" pitchFamily="34" charset="0"/>
                <a:ea typeface="Inter Bold" pitchFamily="34" charset="-122"/>
                <a:cs typeface="Inter Bold" pitchFamily="34" charset="-120"/>
              </a:rPr>
              <a:t>only representative of our business</a:t>
            </a:r>
            <a:r>
              <a:rPr lang="en-US" sz="1300" dirty="0">
                <a:solidFill>
                  <a:srgbClr val="333333"/>
                </a:solidFill>
                <a:latin typeface="Inter" pitchFamily="34" charset="0"/>
                <a:ea typeface="Inter" pitchFamily="34" charset="-122"/>
                <a:cs typeface="Inter" pitchFamily="34" charset="-120"/>
              </a:rPr>
              <a:t> the customer will ever meet in person. Everything you do — how you arrive, how you speak, how you work — shapes how the customer feels about the entire organisation.</a:t>
            </a:r>
            <a:endParaRPr lang="en-US" sz="1300" dirty="0"/>
          </a:p>
        </p:txBody>
      </p:sp>
      <p:sp>
        <p:nvSpPr>
          <p:cNvPr id="4" name="Shape 2"/>
          <p:cNvSpPr/>
          <p:nvPr/>
        </p:nvSpPr>
        <p:spPr>
          <a:xfrm>
            <a:off x="661475" y="3606105"/>
            <a:ext cx="372061" cy="372070"/>
          </a:xfrm>
          <a:prstGeom prst="ellipse">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5" name="Text 3"/>
          <p:cNvSpPr/>
          <p:nvPr/>
        </p:nvSpPr>
        <p:spPr>
          <a:xfrm>
            <a:off x="1198830" y="3662958"/>
            <a:ext cx="4793634"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Every visit affects trust and reputation</a:t>
            </a:r>
            <a:endParaRPr lang="en-US" sz="1600" dirty="0"/>
          </a:p>
        </p:txBody>
      </p:sp>
      <p:sp>
        <p:nvSpPr>
          <p:cNvPr id="6" name="Text 4"/>
          <p:cNvSpPr/>
          <p:nvPr/>
        </p:nvSpPr>
        <p:spPr>
          <a:xfrm>
            <a:off x="1198830" y="4020641"/>
            <a:ext cx="479363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A single poor interaction can lead to a complaint, a lost customer, or lasting reputational damage that spreads through reviews and word of mouth.</a:t>
            </a:r>
            <a:endParaRPr lang="en-US" sz="1300" dirty="0"/>
          </a:p>
        </p:txBody>
      </p:sp>
      <p:sp>
        <p:nvSpPr>
          <p:cNvPr id="7" name="Shape 5"/>
          <p:cNvSpPr/>
          <p:nvPr/>
        </p:nvSpPr>
        <p:spPr>
          <a:xfrm>
            <a:off x="6199132" y="3606105"/>
            <a:ext cx="372061" cy="372070"/>
          </a:xfrm>
          <a:prstGeom prst="ellipse">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8" name="Text 6"/>
          <p:cNvSpPr/>
          <p:nvPr/>
        </p:nvSpPr>
        <p:spPr>
          <a:xfrm>
            <a:off x="6736487" y="3662958"/>
            <a:ext cx="4793733"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Professional behaviour is part of the job</a:t>
            </a:r>
            <a:endParaRPr lang="en-US" sz="1600" dirty="0"/>
          </a:p>
        </p:txBody>
      </p:sp>
      <p:sp>
        <p:nvSpPr>
          <p:cNvPr id="9" name="Text 7"/>
          <p:cNvSpPr/>
          <p:nvPr/>
        </p:nvSpPr>
        <p:spPr>
          <a:xfrm>
            <a:off x="6736487" y="4020641"/>
            <a:ext cx="4793733"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Conduct is not an add-on to technical work — it is a core requirement. How you do the job is as important as whether the job gets done.</a:t>
            </a:r>
            <a:endParaRPr lang="en-US" sz="1300" dirty="0"/>
          </a:p>
        </p:txBody>
      </p:sp>
      <p:pic>
        <p:nvPicPr>
          <p:cNvPr id="11" name="RRTA corner logo" descr="Rapid Response Training Academy logo">
            <a:extLst>
              <a:ext uri="{FF2B5EF4-FFF2-40B4-BE49-F238E27FC236}">
                <a16:creationId xmlns:a16="http://schemas.microsoft.com/office/drawing/2014/main" id="{C01F1F88-5145-5763-E9D2-EE2EBD5F6934}"/>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72480"/>
            <a:ext cx="10868745" cy="508695"/>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Today's Standard</a:t>
            </a:r>
            <a:endParaRPr lang="en-US" sz="3200" dirty="0"/>
          </a:p>
        </p:txBody>
      </p:sp>
      <p:sp>
        <p:nvSpPr>
          <p:cNvPr id="3" name="Text 1"/>
          <p:cNvSpPr/>
          <p:nvPr/>
        </p:nvSpPr>
        <p:spPr>
          <a:xfrm>
            <a:off x="661475" y="1301651"/>
            <a:ext cx="10868745" cy="516930"/>
          </a:xfrm>
          <a:prstGeom prst="rect">
            <a:avLst/>
          </a:prstGeom>
          <a:noFill/>
          <a:ln/>
        </p:spPr>
        <p:txBody>
          <a:bodyPr wrap="square" lIns="0" tIns="0" rIns="0" bIns="0" rtlCol="0" anchor="t">
            <a:normAutofit/>
          </a:bodyPr>
          <a:lstStyle/>
          <a:p>
            <a:pPr marL="0" indent="0" algn="l">
              <a:lnSpc>
                <a:spcPct val="132000"/>
              </a:lnSpc>
              <a:buNone/>
            </a:pPr>
            <a:r>
              <a:rPr lang="en-US" sz="1250" dirty="0">
                <a:solidFill>
                  <a:srgbClr val="333333"/>
                </a:solidFill>
                <a:latin typeface="Inter" pitchFamily="34" charset="0"/>
                <a:ea typeface="Inter" pitchFamily="34" charset="-122"/>
                <a:cs typeface="Inter" pitchFamily="34" charset="-120"/>
              </a:rPr>
              <a:t>Every visit, regardless of complexity, follows one consistent customer journey. This framework applies whether the job takes 20 minutes or all day — the standard does not change.</a:t>
            </a:r>
            <a:endParaRPr lang="en-US" sz="1250" dirty="0"/>
          </a:p>
        </p:txBody>
      </p:sp>
      <p:pic>
        <p:nvPicPr>
          <p:cNvPr id="4" name="Image 0" descr="preencoded.png"/>
          <p:cNvPicPr>
            <a:picLocks noChangeAspect="1"/>
          </p:cNvPicPr>
          <p:nvPr/>
        </p:nvPicPr>
        <p:blipFill>
          <a:blip r:embed="rId3"/>
          <a:stretch>
            <a:fillRect/>
          </a:stretch>
        </p:blipFill>
        <p:spPr>
          <a:xfrm>
            <a:off x="835500" y="1998861"/>
            <a:ext cx="10520595" cy="3947914"/>
          </a:xfrm>
          <a:prstGeom prst="rect">
            <a:avLst/>
          </a:prstGeom>
        </p:spPr>
      </p:pic>
      <p:sp>
        <p:nvSpPr>
          <p:cNvPr id="5" name="Text 2"/>
          <p:cNvSpPr/>
          <p:nvPr/>
        </p:nvSpPr>
        <p:spPr>
          <a:xfrm>
            <a:off x="9366953" y="5019970"/>
            <a:ext cx="1524837" cy="228247"/>
          </a:xfrm>
          <a:prstGeom prst="rect">
            <a:avLst/>
          </a:prstGeom>
          <a:noFill/>
          <a:ln/>
        </p:spPr>
        <p:txBody>
          <a:bodyPr wrap="none" lIns="0" tIns="0" rIns="0" bIns="0" rtlCol="0" anchor="t"/>
          <a:lstStyle/>
          <a:p>
            <a:pPr marL="0" indent="0" algn="ctr">
              <a:lnSpc>
                <a:spcPct val="103000"/>
              </a:lnSpc>
              <a:buNone/>
            </a:pPr>
            <a:r>
              <a:rPr lang="en-US" sz="1500" b="1" dirty="0">
                <a:solidFill>
                  <a:srgbClr val="333333"/>
                </a:solidFill>
                <a:latin typeface="Inter Bold" pitchFamily="34" charset="0"/>
                <a:ea typeface="Inter Bold" pitchFamily="34" charset="-122"/>
                <a:cs typeface="Inter Bold" pitchFamily="34" charset="-120"/>
              </a:rPr>
              <a:t>COMMUNICATE</a:t>
            </a:r>
            <a:endParaRPr lang="en-US" sz="1500" dirty="0"/>
          </a:p>
        </p:txBody>
      </p:sp>
      <p:sp>
        <p:nvSpPr>
          <p:cNvPr id="6" name="Text 3"/>
          <p:cNvSpPr/>
          <p:nvPr/>
        </p:nvSpPr>
        <p:spPr>
          <a:xfrm>
            <a:off x="7667369" y="5019970"/>
            <a:ext cx="924514" cy="228247"/>
          </a:xfrm>
          <a:prstGeom prst="rect">
            <a:avLst/>
          </a:prstGeom>
          <a:noFill/>
          <a:ln/>
        </p:spPr>
        <p:txBody>
          <a:bodyPr wrap="none" lIns="0" tIns="0" rIns="0" bIns="0" rtlCol="0" anchor="t"/>
          <a:lstStyle/>
          <a:p>
            <a:pPr marL="0" indent="0" algn="ctr">
              <a:lnSpc>
                <a:spcPct val="103000"/>
              </a:lnSpc>
              <a:buNone/>
            </a:pPr>
            <a:r>
              <a:rPr lang="en-US" sz="1500" b="1" dirty="0">
                <a:solidFill>
                  <a:srgbClr val="333333"/>
                </a:solidFill>
                <a:latin typeface="Inter Bold" pitchFamily="34" charset="0"/>
                <a:ea typeface="Inter Bold" pitchFamily="34" charset="-122"/>
                <a:cs typeface="Inter Bold" pitchFamily="34" charset="-120"/>
              </a:rPr>
              <a:t>PROTECT</a:t>
            </a:r>
            <a:endParaRPr lang="en-US" sz="1500" dirty="0"/>
          </a:p>
        </p:txBody>
      </p:sp>
      <p:sp>
        <p:nvSpPr>
          <p:cNvPr id="7" name="Text 4"/>
          <p:cNvSpPr/>
          <p:nvPr/>
        </p:nvSpPr>
        <p:spPr>
          <a:xfrm>
            <a:off x="5815114" y="5019970"/>
            <a:ext cx="650930" cy="228247"/>
          </a:xfrm>
          <a:prstGeom prst="rect">
            <a:avLst/>
          </a:prstGeom>
          <a:noFill/>
          <a:ln/>
        </p:spPr>
        <p:txBody>
          <a:bodyPr wrap="none" lIns="0" tIns="0" rIns="0" bIns="0" rtlCol="0" anchor="t"/>
          <a:lstStyle/>
          <a:p>
            <a:pPr marL="0" indent="0" algn="ctr">
              <a:lnSpc>
                <a:spcPct val="103000"/>
              </a:lnSpc>
              <a:buNone/>
            </a:pPr>
            <a:r>
              <a:rPr lang="en-US" sz="1500" b="1" dirty="0">
                <a:solidFill>
                  <a:srgbClr val="333333"/>
                </a:solidFill>
                <a:latin typeface="Inter Bold" pitchFamily="34" charset="0"/>
                <a:ea typeface="Inter Bold" pitchFamily="34" charset="-122"/>
                <a:cs typeface="Inter Bold" pitchFamily="34" charset="-120"/>
              </a:rPr>
              <a:t>AGREE</a:t>
            </a:r>
            <a:endParaRPr lang="en-US" sz="1500" dirty="0"/>
          </a:p>
        </p:txBody>
      </p:sp>
      <p:sp>
        <p:nvSpPr>
          <p:cNvPr id="8" name="Text 5"/>
          <p:cNvSpPr/>
          <p:nvPr/>
        </p:nvSpPr>
        <p:spPr>
          <a:xfrm>
            <a:off x="3804075" y="5019970"/>
            <a:ext cx="695254" cy="228247"/>
          </a:xfrm>
          <a:prstGeom prst="rect">
            <a:avLst/>
          </a:prstGeom>
          <a:noFill/>
          <a:ln/>
        </p:spPr>
        <p:txBody>
          <a:bodyPr wrap="none" lIns="0" tIns="0" rIns="0" bIns="0" rtlCol="0" anchor="t"/>
          <a:lstStyle/>
          <a:p>
            <a:pPr marL="0" indent="0" algn="ctr">
              <a:lnSpc>
                <a:spcPct val="103000"/>
              </a:lnSpc>
              <a:buNone/>
            </a:pPr>
            <a:r>
              <a:rPr lang="en-US" sz="1500" b="1" dirty="0">
                <a:solidFill>
                  <a:srgbClr val="333333"/>
                </a:solidFill>
                <a:latin typeface="Inter Bold" pitchFamily="34" charset="0"/>
                <a:ea typeface="Inter Bold" pitchFamily="34" charset="-122"/>
                <a:cs typeface="Inter Bold" pitchFamily="34" charset="-120"/>
              </a:rPr>
              <a:t>CHECK</a:t>
            </a:r>
            <a:endParaRPr lang="en-US" sz="1500" dirty="0"/>
          </a:p>
        </p:txBody>
      </p:sp>
      <p:sp>
        <p:nvSpPr>
          <p:cNvPr id="9" name="Text 6"/>
          <p:cNvSpPr/>
          <p:nvPr/>
        </p:nvSpPr>
        <p:spPr>
          <a:xfrm>
            <a:off x="1757713" y="5019970"/>
            <a:ext cx="722935" cy="228247"/>
          </a:xfrm>
          <a:prstGeom prst="rect">
            <a:avLst/>
          </a:prstGeom>
          <a:noFill/>
          <a:ln/>
        </p:spPr>
        <p:txBody>
          <a:bodyPr wrap="none" lIns="0" tIns="0" rIns="0" bIns="0" rtlCol="0" anchor="t"/>
          <a:lstStyle/>
          <a:p>
            <a:pPr marL="0" indent="0" algn="ctr">
              <a:lnSpc>
                <a:spcPct val="103000"/>
              </a:lnSpc>
              <a:buNone/>
            </a:pPr>
            <a:r>
              <a:rPr lang="en-US" sz="1500" b="1" dirty="0">
                <a:solidFill>
                  <a:srgbClr val="333333"/>
                </a:solidFill>
                <a:latin typeface="Inter Bold" pitchFamily="34" charset="0"/>
                <a:ea typeface="Inter Bold" pitchFamily="34" charset="-122"/>
                <a:cs typeface="Inter Bold" pitchFamily="34" charset="-120"/>
              </a:rPr>
              <a:t>ARRIVE</a:t>
            </a:r>
            <a:endParaRPr lang="en-US" sz="1500" dirty="0"/>
          </a:p>
        </p:txBody>
      </p:sp>
      <p:sp>
        <p:nvSpPr>
          <p:cNvPr id="10" name="Text 7"/>
          <p:cNvSpPr/>
          <p:nvPr/>
        </p:nvSpPr>
        <p:spPr>
          <a:xfrm>
            <a:off x="661475" y="6127055"/>
            <a:ext cx="11478330" cy="258465"/>
          </a:xfrm>
          <a:prstGeom prst="rect">
            <a:avLst/>
          </a:prstGeom>
          <a:noFill/>
          <a:ln/>
        </p:spPr>
        <p:txBody>
          <a:bodyPr wrap="none" lIns="0" tIns="0" rIns="0" bIns="0" rtlCol="0" anchor="t"/>
          <a:lstStyle/>
          <a:p>
            <a:pPr marL="0" indent="0" algn="l">
              <a:lnSpc>
                <a:spcPct val="132000"/>
              </a:lnSpc>
              <a:buNone/>
            </a:pPr>
            <a:r>
              <a:rPr lang="en-US" sz="1250" dirty="0">
                <a:solidFill>
                  <a:srgbClr val="333333"/>
                </a:solidFill>
                <a:latin typeface="Inter" pitchFamily="34" charset="0"/>
                <a:ea typeface="Inter" pitchFamily="34" charset="-122"/>
                <a:cs typeface="Inter" pitchFamily="34" charset="-120"/>
              </a:rPr>
              <a:t>By the end of this session you will understand the expected behaviour at every stage and be able to apply it to real-world scenarios.</a:t>
            </a:r>
            <a:endParaRPr lang="en-US" sz="1250" dirty="0"/>
          </a:p>
        </p:txBody>
      </p:sp>
      <p:pic>
        <p:nvPicPr>
          <p:cNvPr id="12" name="RRTA corner logo" descr="Rapid Response Training Academy logo">
            <a:extLst>
              <a:ext uri="{FF2B5EF4-FFF2-40B4-BE49-F238E27FC236}">
                <a16:creationId xmlns:a16="http://schemas.microsoft.com/office/drawing/2014/main" id="{14E8B121-9C95-0C33-6101-6DCE12DF7426}"/>
              </a:ext>
            </a:extLst>
          </p:cNvPr>
          <p:cNvPicPr>
            <a:picLocks noChangeAspect="1"/>
          </p:cNvPicPr>
          <p:nvPr/>
        </p:nvPicPr>
        <p:blipFill>
          <a:blip r:embed="rId4">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334790"/>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ARRIVE – The First 60 Seconds</a:t>
            </a:r>
            <a:endParaRPr lang="en-US" sz="3250" dirty="0"/>
          </a:p>
        </p:txBody>
      </p:sp>
      <p:sp>
        <p:nvSpPr>
          <p:cNvPr id="3" name="Text 1"/>
          <p:cNvSpPr/>
          <p:nvPr/>
        </p:nvSpPr>
        <p:spPr>
          <a:xfrm>
            <a:off x="661475" y="2182217"/>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The customer's assessment of you begins before you knock. How you park, how you walk to the door, and how you present yourself in those first moments sets the tone for the entire visit. First impressions are difficult to reverse.</a:t>
            </a:r>
            <a:endParaRPr lang="en-US" sz="1300" dirty="0"/>
          </a:p>
        </p:txBody>
      </p:sp>
      <p:sp>
        <p:nvSpPr>
          <p:cNvPr id="4" name="Shape 2"/>
          <p:cNvSpPr/>
          <p:nvPr/>
        </p:nvSpPr>
        <p:spPr>
          <a:xfrm>
            <a:off x="661475" y="2897485"/>
            <a:ext cx="5351725" cy="1230213"/>
          </a:xfrm>
          <a:prstGeom prst="roundRect">
            <a:avLst>
              <a:gd name="adj" fmla="val 20166"/>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5" name="Text 3"/>
          <p:cNvSpPr/>
          <p:nvPr/>
        </p:nvSpPr>
        <p:spPr>
          <a:xfrm>
            <a:off x="833119" y="3069134"/>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Park Considerately</a:t>
            </a:r>
            <a:endParaRPr lang="en-US" sz="1600" dirty="0"/>
          </a:p>
        </p:txBody>
      </p:sp>
      <p:sp>
        <p:nvSpPr>
          <p:cNvPr id="6" name="Text 4"/>
          <p:cNvSpPr/>
          <p:nvPr/>
        </p:nvSpPr>
        <p:spPr>
          <a:xfrm>
            <a:off x="833119" y="3426817"/>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Choose a safe, legal space. Blocking driveways or pavements signals disregard for the customer and the neighbourhood.</a:t>
            </a:r>
            <a:endParaRPr lang="en-US" sz="1300" dirty="0"/>
          </a:p>
        </p:txBody>
      </p:sp>
      <p:sp>
        <p:nvSpPr>
          <p:cNvPr id="7" name="Shape 5"/>
          <p:cNvSpPr/>
          <p:nvPr/>
        </p:nvSpPr>
        <p:spPr>
          <a:xfrm>
            <a:off x="6178495" y="2897485"/>
            <a:ext cx="5351725" cy="1230213"/>
          </a:xfrm>
          <a:prstGeom prst="roundRect">
            <a:avLst>
              <a:gd name="adj" fmla="val 20166"/>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8" name="Text 6"/>
          <p:cNvSpPr/>
          <p:nvPr/>
        </p:nvSpPr>
        <p:spPr>
          <a:xfrm>
            <a:off x="6350139" y="3069134"/>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Present Professionally</a:t>
            </a:r>
            <a:endParaRPr lang="en-US" sz="1600" dirty="0"/>
          </a:p>
        </p:txBody>
      </p:sp>
      <p:sp>
        <p:nvSpPr>
          <p:cNvPr id="9" name="Text 7"/>
          <p:cNvSpPr/>
          <p:nvPr/>
        </p:nvSpPr>
        <p:spPr>
          <a:xfrm>
            <a:off x="6350139" y="3426817"/>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Clean uniform, tidy appearance. You represent the company from the moment you step out of your vehicle.</a:t>
            </a:r>
            <a:endParaRPr lang="en-US" sz="1300" dirty="0"/>
          </a:p>
        </p:txBody>
      </p:sp>
      <p:sp>
        <p:nvSpPr>
          <p:cNvPr id="10" name="Shape 8"/>
          <p:cNvSpPr/>
          <p:nvPr/>
        </p:nvSpPr>
        <p:spPr>
          <a:xfrm>
            <a:off x="661475" y="4292997"/>
            <a:ext cx="5351725" cy="1230213"/>
          </a:xfrm>
          <a:prstGeom prst="roundRect">
            <a:avLst>
              <a:gd name="adj" fmla="val 20166"/>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1" name="Text 9"/>
          <p:cNvSpPr/>
          <p:nvPr/>
        </p:nvSpPr>
        <p:spPr>
          <a:xfrm>
            <a:off x="833119" y="4464645"/>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Show ID &amp; Introduce Yourself</a:t>
            </a:r>
            <a:endParaRPr lang="en-US" sz="1600" dirty="0"/>
          </a:p>
        </p:txBody>
      </p:sp>
      <p:sp>
        <p:nvSpPr>
          <p:cNvPr id="12" name="Text 10"/>
          <p:cNvSpPr/>
          <p:nvPr/>
        </p:nvSpPr>
        <p:spPr>
          <a:xfrm>
            <a:off x="833119" y="4822329"/>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Clearly state your name, company, and the purpose of your visit. Never assume the customer is expecting you.</a:t>
            </a:r>
            <a:endParaRPr lang="en-US" sz="1300" dirty="0"/>
          </a:p>
        </p:txBody>
      </p:sp>
      <p:sp>
        <p:nvSpPr>
          <p:cNvPr id="13" name="Shape 11"/>
          <p:cNvSpPr/>
          <p:nvPr/>
        </p:nvSpPr>
        <p:spPr>
          <a:xfrm>
            <a:off x="6178495" y="4292997"/>
            <a:ext cx="5351725" cy="1230213"/>
          </a:xfrm>
          <a:prstGeom prst="roundRect">
            <a:avLst>
              <a:gd name="adj" fmla="val 20166"/>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4" name="Text 12"/>
          <p:cNvSpPr/>
          <p:nvPr/>
        </p:nvSpPr>
        <p:spPr>
          <a:xfrm>
            <a:off x="6350139" y="4464645"/>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Confirm Customer &amp; Purpose</a:t>
            </a:r>
            <a:endParaRPr lang="en-US" sz="1600" dirty="0"/>
          </a:p>
        </p:txBody>
      </p:sp>
      <p:sp>
        <p:nvSpPr>
          <p:cNvPr id="15" name="Text 13"/>
          <p:cNvSpPr/>
          <p:nvPr/>
        </p:nvSpPr>
        <p:spPr>
          <a:xfrm>
            <a:off x="6350139" y="4822329"/>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Verify you are at the right address, speaking to the right person, and that the visit is expected and understood.</a:t>
            </a:r>
            <a:endParaRPr lang="en-US" sz="1300" dirty="0"/>
          </a:p>
        </p:txBody>
      </p:sp>
      <p:pic>
        <p:nvPicPr>
          <p:cNvPr id="17" name="RRTA corner logo" descr="Rapid Response Training Academy logo">
            <a:extLst>
              <a:ext uri="{FF2B5EF4-FFF2-40B4-BE49-F238E27FC236}">
                <a16:creationId xmlns:a16="http://schemas.microsoft.com/office/drawing/2014/main" id="{7D251D16-2BE1-D3C7-EA69-F7085A192C3C}"/>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546920"/>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Activity – First Impressions</a:t>
            </a:r>
            <a:endParaRPr lang="en-US" sz="3250" dirty="0"/>
          </a:p>
        </p:txBody>
      </p:sp>
      <p:sp>
        <p:nvSpPr>
          <p:cNvPr id="3" name="Text 1"/>
          <p:cNvSpPr/>
          <p:nvPr/>
        </p:nvSpPr>
        <p:spPr>
          <a:xfrm>
            <a:off x="661475" y="2394347"/>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This activity asks you to look critically at two contrasting engineer arrivals and identify exactly what drives customer confidence — or destroys it — before a single word of technical work is discussed.</a:t>
            </a:r>
            <a:endParaRPr lang="en-US" sz="1300" dirty="0"/>
          </a:p>
        </p:txBody>
      </p:sp>
      <p:sp>
        <p:nvSpPr>
          <p:cNvPr id="4" name="Shape 2"/>
          <p:cNvSpPr/>
          <p:nvPr/>
        </p:nvSpPr>
        <p:spPr>
          <a:xfrm>
            <a:off x="542415" y="3109615"/>
            <a:ext cx="5470785" cy="2201366"/>
          </a:xfrm>
          <a:prstGeom prst="roundRect">
            <a:avLst>
              <a:gd name="adj" fmla="val 18031"/>
            </a:avLst>
          </a:prstGeom>
          <a:solidFill>
            <a:srgbClr val="8B0B0D">
              <a:alpha val="95000"/>
            </a:srgbClr>
          </a:solidFill>
          <a:ln/>
        </p:spPr>
        <p:txBody>
          <a:bodyPr/>
          <a:lstStyle/>
          <a:p>
            <a:endParaRPr lang="en-GB"/>
          </a:p>
        </p:txBody>
      </p:sp>
      <p:sp>
        <p:nvSpPr>
          <p:cNvPr id="5" name="Text 3"/>
          <p:cNvSpPr/>
          <p:nvPr/>
        </p:nvSpPr>
        <p:spPr>
          <a:xfrm>
            <a:off x="707710" y="3274913"/>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FFFFFF"/>
                </a:solidFill>
                <a:latin typeface="Inter Bold" pitchFamily="34" charset="0"/>
                <a:ea typeface="Inter Bold" pitchFamily="34" charset="-122"/>
                <a:cs typeface="Inter Bold" pitchFamily="34" charset="-120"/>
              </a:rPr>
              <a:t>What Creates Confidence?</a:t>
            </a:r>
            <a:endParaRPr lang="en-US" sz="1600" dirty="0"/>
          </a:p>
        </p:txBody>
      </p:sp>
      <p:sp>
        <p:nvSpPr>
          <p:cNvPr id="6" name="Text 4"/>
          <p:cNvSpPr/>
          <p:nvPr/>
        </p:nvSpPr>
        <p:spPr>
          <a:xfrm>
            <a:off x="707710" y="3698677"/>
            <a:ext cx="5140196" cy="1554460"/>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Smart, clean uniform and tidy vehicle</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Calm, purposeful approach to the door</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Clear ID shown without being asked</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Friendly, professional greeting</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Confirmation of purpose and name</a:t>
            </a:r>
            <a:endParaRPr lang="en-US" sz="1300" dirty="0"/>
          </a:p>
        </p:txBody>
      </p:sp>
      <p:sp>
        <p:nvSpPr>
          <p:cNvPr id="7" name="Text 5"/>
          <p:cNvSpPr/>
          <p:nvPr/>
        </p:nvSpPr>
        <p:spPr>
          <a:xfrm>
            <a:off x="6303904" y="3274913"/>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What Immediately Damages Trust?</a:t>
            </a:r>
            <a:endParaRPr lang="en-US" sz="1600" dirty="0"/>
          </a:p>
        </p:txBody>
      </p:sp>
      <p:sp>
        <p:nvSpPr>
          <p:cNvPr id="8" name="Text 6"/>
          <p:cNvSpPr/>
          <p:nvPr/>
        </p:nvSpPr>
        <p:spPr>
          <a:xfrm>
            <a:off x="6303904" y="3698677"/>
            <a:ext cx="5232666" cy="1554460"/>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Scruffy appearance or unlabelled clothing</a:t>
            </a:r>
            <a:endParaRPr lang="en-US" sz="1300" dirty="0"/>
          </a:p>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Parking across the driveway or on the pavement</a:t>
            </a:r>
            <a:endParaRPr lang="en-US" sz="1300" dirty="0"/>
          </a:p>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No ID offered or vague introduction</a:t>
            </a:r>
            <a:endParaRPr lang="en-US" sz="1300" dirty="0"/>
          </a:p>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Distracted by phone before knocking</a:t>
            </a:r>
            <a:endParaRPr lang="en-US" sz="1300" dirty="0"/>
          </a:p>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Dismissive or impatient body language</a:t>
            </a:r>
            <a:endParaRPr lang="en-US" sz="1300" dirty="0"/>
          </a:p>
        </p:txBody>
      </p:sp>
      <p:pic>
        <p:nvPicPr>
          <p:cNvPr id="10" name="RRTA corner logo" descr="Rapid Response Training Academy logo">
            <a:extLst>
              <a:ext uri="{FF2B5EF4-FFF2-40B4-BE49-F238E27FC236}">
                <a16:creationId xmlns:a16="http://schemas.microsoft.com/office/drawing/2014/main" id="{ED141B57-58E1-90FF-1E7F-1C8CE3BECEC6}"/>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044773"/>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CHECK – Before You Start</a:t>
            </a:r>
            <a:endParaRPr lang="en-US" sz="3250" dirty="0"/>
          </a:p>
        </p:txBody>
      </p:sp>
      <p:sp>
        <p:nvSpPr>
          <p:cNvPr id="3" name="Text 1"/>
          <p:cNvSpPr/>
          <p:nvPr/>
        </p:nvSpPr>
        <p:spPr>
          <a:xfrm>
            <a:off x="661475" y="1892201"/>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Entering a property and beginning work are two separate decisions. Before you pick up a single tool, you must assess the environment — both for the customer's wellbeing and for your own safety.</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607469"/>
            <a:ext cx="5351725" cy="1520230"/>
          </a:xfrm>
          <a:prstGeom prst="rect">
            <a:avLst/>
          </a:prstGeom>
        </p:spPr>
      </p:pic>
      <p:sp>
        <p:nvSpPr>
          <p:cNvPr id="5" name="Text 2"/>
          <p:cNvSpPr/>
          <p:nvPr/>
        </p:nvSpPr>
        <p:spPr>
          <a:xfrm>
            <a:off x="922017" y="2791817"/>
            <a:ext cx="490684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Responsible Adult Present</a:t>
            </a:r>
            <a:endParaRPr lang="en-US" sz="1600" dirty="0"/>
          </a:p>
        </p:txBody>
      </p:sp>
      <p:sp>
        <p:nvSpPr>
          <p:cNvPr id="6" name="Text 3"/>
          <p:cNvSpPr/>
          <p:nvPr/>
        </p:nvSpPr>
        <p:spPr>
          <a:xfrm>
            <a:off x="922017" y="3149501"/>
            <a:ext cx="490684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Confirm that an appropriate person — an adult with authority to give access — is on the premises before work begins.</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2607469"/>
            <a:ext cx="5351725" cy="1520230"/>
          </a:xfrm>
          <a:prstGeom prst="rect">
            <a:avLst/>
          </a:prstGeom>
        </p:spPr>
      </p:pic>
      <p:sp>
        <p:nvSpPr>
          <p:cNvPr id="8" name="Text 4"/>
          <p:cNvSpPr/>
          <p:nvPr/>
        </p:nvSpPr>
        <p:spPr>
          <a:xfrm>
            <a:off x="6439037" y="2791817"/>
            <a:ext cx="490684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Vulnerable Customers &amp; Individual Needs</a:t>
            </a:r>
            <a:endParaRPr lang="en-US" sz="1600" dirty="0"/>
          </a:p>
        </p:txBody>
      </p:sp>
      <p:sp>
        <p:nvSpPr>
          <p:cNvPr id="9" name="Text 5"/>
          <p:cNvSpPr/>
          <p:nvPr/>
        </p:nvSpPr>
        <p:spPr>
          <a:xfrm>
            <a:off x="6439037" y="3149501"/>
            <a:ext cx="490684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Identify any vulnerability, accessibility requirement, or communication need that should inform how you interact or work.</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292997"/>
            <a:ext cx="5351725" cy="1520230"/>
          </a:xfrm>
          <a:prstGeom prst="rect">
            <a:avLst/>
          </a:prstGeom>
        </p:spPr>
      </p:pic>
      <p:sp>
        <p:nvSpPr>
          <p:cNvPr id="11" name="Text 6"/>
          <p:cNvSpPr/>
          <p:nvPr/>
        </p:nvSpPr>
        <p:spPr>
          <a:xfrm>
            <a:off x="922017" y="4477345"/>
            <a:ext cx="490684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Safe Access &amp; Work Area</a:t>
            </a:r>
            <a:endParaRPr lang="en-US" sz="1600" dirty="0"/>
          </a:p>
        </p:txBody>
      </p:sp>
      <p:sp>
        <p:nvSpPr>
          <p:cNvPr id="12" name="Text 7"/>
          <p:cNvSpPr/>
          <p:nvPr/>
        </p:nvSpPr>
        <p:spPr>
          <a:xfrm>
            <a:off x="922017" y="4835029"/>
            <a:ext cx="490684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Check that the proposed route and work area are physically safe. Do not assume access permission equals a safe environment.</a:t>
            </a:r>
            <a:endParaRPr lang="en-US" sz="13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4292997"/>
            <a:ext cx="5351725" cy="1520230"/>
          </a:xfrm>
          <a:prstGeom prst="rect">
            <a:avLst/>
          </a:prstGeom>
        </p:spPr>
      </p:pic>
      <p:sp>
        <p:nvSpPr>
          <p:cNvPr id="14" name="Text 8"/>
          <p:cNvSpPr/>
          <p:nvPr/>
        </p:nvSpPr>
        <p:spPr>
          <a:xfrm>
            <a:off x="6439037" y="4477345"/>
            <a:ext cx="490684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Pets, Hazards &amp; Existing Defects</a:t>
            </a:r>
            <a:endParaRPr lang="en-US" sz="1600" dirty="0"/>
          </a:p>
        </p:txBody>
      </p:sp>
      <p:sp>
        <p:nvSpPr>
          <p:cNvPr id="15" name="Text 9"/>
          <p:cNvSpPr/>
          <p:nvPr/>
        </p:nvSpPr>
        <p:spPr>
          <a:xfrm>
            <a:off x="6439037" y="4835029"/>
            <a:ext cx="490684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Identify animals, obstructions, and any pre-existing damage before starting — record defects immediately and agree with the customer.</a:t>
            </a:r>
            <a:endParaRPr lang="en-US" sz="1300" dirty="0"/>
          </a:p>
        </p:txBody>
      </p:sp>
      <p:pic>
        <p:nvPicPr>
          <p:cNvPr id="17" name="RRTA corner logo" descr="Rapid Response Training Academy logo">
            <a:extLst>
              <a:ext uri="{FF2B5EF4-FFF2-40B4-BE49-F238E27FC236}">
                <a16:creationId xmlns:a16="http://schemas.microsoft.com/office/drawing/2014/main" id="{0F000D9B-4539-7607-9CF3-B534AEC5172E}"/>
              </a:ext>
            </a:extLst>
          </p:cNvPr>
          <p:cNvPicPr>
            <a:picLocks noChangeAspect="1"/>
          </p:cNvPicPr>
          <p:nvPr/>
        </p:nvPicPr>
        <p:blipFill>
          <a:blip r:embed="rId4">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56519"/>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Scenario – Nobody Old Enough Is Home</a:t>
            </a:r>
            <a:endParaRPr lang="en-US" sz="3250" dirty="0"/>
          </a:p>
        </p:txBody>
      </p:sp>
      <p:sp>
        <p:nvSpPr>
          <p:cNvPr id="3" name="Text 1"/>
          <p:cNvSpPr/>
          <p:nvPr/>
        </p:nvSpPr>
        <p:spPr>
          <a:xfrm>
            <a:off x="909516" y="2389981"/>
            <a:ext cx="11230289" cy="264616"/>
          </a:xfrm>
          <a:prstGeom prst="rect">
            <a:avLst/>
          </a:prstGeom>
          <a:noFill/>
          <a:ln/>
        </p:spPr>
        <p:txBody>
          <a:bodyPr wrap="none" lIns="0" tIns="0" rIns="0" bIns="0" rtlCol="0" anchor="t"/>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You arrive for an installation and a 15-year-old answers the door. Their parent calls and says: </a:t>
            </a:r>
            <a:r>
              <a:rPr lang="en-US" sz="1300" i="1" dirty="0">
                <a:solidFill>
                  <a:srgbClr val="333333"/>
                </a:solidFill>
                <a:latin typeface="Inter" pitchFamily="34" charset="0"/>
                <a:ea typeface="Inter" pitchFamily="34" charset="-122"/>
                <a:cs typeface="Inter" pitchFamily="34" charset="-120"/>
              </a:rPr>
              <a:t>"It is fine — just get on with it."</a:t>
            </a:r>
            <a:endParaRPr lang="en-US" sz="1300" dirty="0"/>
          </a:p>
        </p:txBody>
      </p:sp>
      <p:sp>
        <p:nvSpPr>
          <p:cNvPr id="4" name="Shape 2"/>
          <p:cNvSpPr/>
          <p:nvPr/>
        </p:nvSpPr>
        <p:spPr>
          <a:xfrm>
            <a:off x="661475" y="2203946"/>
            <a:ext cx="19050" cy="636687"/>
          </a:xfrm>
          <a:prstGeom prst="roundRect">
            <a:avLst>
              <a:gd name="adj" fmla="val 49999"/>
            </a:avLst>
          </a:prstGeom>
          <a:solidFill>
            <a:srgbClr val="8B0B0D"/>
          </a:solidFill>
          <a:ln/>
        </p:spPr>
        <p:txBody>
          <a:bodyPr/>
          <a:lstStyle/>
          <a:p>
            <a:endParaRPr lang="en-GB"/>
          </a:p>
        </p:txBody>
      </p:sp>
      <p:sp>
        <p:nvSpPr>
          <p:cNvPr id="5" name="Text 3"/>
          <p:cNvSpPr/>
          <p:nvPr/>
        </p:nvSpPr>
        <p:spPr>
          <a:xfrm>
            <a:off x="661475" y="3026668"/>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This is a genuine dilemma that engineers face. The pressure to complete the job is real — but so is the responsibility to follow procedure. Consider what is actually required and what the consequences of getting it wrong could be.</a:t>
            </a:r>
            <a:endParaRPr lang="en-US" sz="1300" dirty="0"/>
          </a:p>
        </p:txBody>
      </p:sp>
      <p:sp>
        <p:nvSpPr>
          <p:cNvPr id="6" name="Shape 4"/>
          <p:cNvSpPr/>
          <p:nvPr/>
        </p:nvSpPr>
        <p:spPr>
          <a:xfrm>
            <a:off x="661475" y="3741936"/>
            <a:ext cx="10868745" cy="1759446"/>
          </a:xfrm>
          <a:prstGeom prst="roundRect">
            <a:avLst>
              <a:gd name="adj" fmla="val 14100"/>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7" name="Shape 5"/>
          <p:cNvSpPr/>
          <p:nvPr/>
        </p:nvSpPr>
        <p:spPr>
          <a:xfrm>
            <a:off x="667825" y="3748286"/>
            <a:ext cx="3618616" cy="1746746"/>
          </a:xfrm>
          <a:custGeom>
            <a:avLst/>
            <a:gdLst/>
            <a:ahLst/>
            <a:cxnLst/>
            <a:rect l="l" t="t" r="r" b="b"/>
            <a:pathLst>
              <a:path w="3618616" h="1746746">
                <a:moveTo>
                  <a:pt x="206739" y="0"/>
                </a:moveTo>
                <a:lnTo>
                  <a:pt x="3618616" y="0"/>
                </a:lnTo>
                <a:lnTo>
                  <a:pt x="3618616" y="1746746"/>
                </a:lnTo>
                <a:lnTo>
                  <a:pt x="206739" y="1746746"/>
                </a:lnTo>
                <a:arcTo wR="206739" hR="206744" stAng="5400000" swAng="5400000"/>
                <a:lnTo>
                  <a:pt x="0" y="206744"/>
                </a:lnTo>
                <a:arcTo wR="206739" hR="206744" stAng="10800000" swAng="5400000"/>
                <a:close/>
              </a:path>
            </a:pathLst>
          </a:custGeom>
          <a:solidFill>
            <a:srgbClr val="EAE2E2"/>
          </a:solidFill>
          <a:ln/>
        </p:spPr>
        <p:txBody>
          <a:bodyPr/>
          <a:lstStyle/>
          <a:p>
            <a:endParaRPr lang="en-GB"/>
          </a:p>
        </p:txBody>
      </p:sp>
      <p:sp>
        <p:nvSpPr>
          <p:cNvPr id="8" name="Text 6"/>
          <p:cNvSpPr/>
          <p:nvPr/>
        </p:nvSpPr>
        <p:spPr>
          <a:xfrm>
            <a:off x="833119" y="3913584"/>
            <a:ext cx="32880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What Do You Do?</a:t>
            </a:r>
            <a:endParaRPr lang="en-US" sz="1600" dirty="0"/>
          </a:p>
        </p:txBody>
      </p:sp>
      <p:sp>
        <p:nvSpPr>
          <p:cNvPr id="9" name="Text 7"/>
          <p:cNvSpPr/>
          <p:nvPr/>
        </p:nvSpPr>
        <p:spPr>
          <a:xfrm>
            <a:off x="833119" y="4271268"/>
            <a:ext cx="3288027"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Follow company policy on responsible adult requirements. A phone call from a parent does not constitute an authorised adult being present on the premises.</a:t>
            </a:r>
            <a:endParaRPr lang="en-US" sz="1300" dirty="0"/>
          </a:p>
        </p:txBody>
      </p:sp>
      <p:sp>
        <p:nvSpPr>
          <p:cNvPr id="10" name="Shape 8"/>
          <p:cNvSpPr/>
          <p:nvPr/>
        </p:nvSpPr>
        <p:spPr>
          <a:xfrm>
            <a:off x="4286440" y="3748286"/>
            <a:ext cx="3618715" cy="1746746"/>
          </a:xfrm>
          <a:prstGeom prst="rect">
            <a:avLst/>
          </a:prstGeom>
          <a:solidFill>
            <a:srgbClr val="EAE2E2"/>
          </a:solidFill>
          <a:ln/>
        </p:spPr>
        <p:txBody>
          <a:bodyPr/>
          <a:lstStyle/>
          <a:p>
            <a:endParaRPr lang="en-GB"/>
          </a:p>
        </p:txBody>
      </p:sp>
      <p:sp>
        <p:nvSpPr>
          <p:cNvPr id="11" name="Shape 9"/>
          <p:cNvSpPr/>
          <p:nvPr/>
        </p:nvSpPr>
        <p:spPr>
          <a:xfrm>
            <a:off x="4286440" y="3748286"/>
            <a:ext cx="19050" cy="1746746"/>
          </a:xfrm>
          <a:prstGeom prst="roundRect">
            <a:avLst>
              <a:gd name="adj" fmla="val 49999"/>
            </a:avLst>
          </a:prstGeom>
          <a:solidFill>
            <a:srgbClr val="D0C8C8"/>
          </a:solidFill>
          <a:ln/>
        </p:spPr>
        <p:txBody>
          <a:bodyPr/>
          <a:lstStyle/>
          <a:p>
            <a:endParaRPr lang="en-GB"/>
          </a:p>
        </p:txBody>
      </p:sp>
      <p:sp>
        <p:nvSpPr>
          <p:cNvPr id="12" name="Text 10"/>
          <p:cNvSpPr/>
          <p:nvPr/>
        </p:nvSpPr>
        <p:spPr>
          <a:xfrm>
            <a:off x="4451735" y="3913584"/>
            <a:ext cx="3288126"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What Do You Say?</a:t>
            </a:r>
            <a:endParaRPr lang="en-US" sz="1600" dirty="0"/>
          </a:p>
        </p:txBody>
      </p:sp>
      <p:sp>
        <p:nvSpPr>
          <p:cNvPr id="13" name="Text 11"/>
          <p:cNvSpPr/>
          <p:nvPr/>
        </p:nvSpPr>
        <p:spPr>
          <a:xfrm>
            <a:off x="4451735" y="4271268"/>
            <a:ext cx="328812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Politely explain the requirement to the young person and, if possible, to the parent by phone. Be empathetic — this is policy, not personal.</a:t>
            </a:r>
            <a:endParaRPr lang="en-US" sz="1300" dirty="0"/>
          </a:p>
        </p:txBody>
      </p:sp>
      <p:sp>
        <p:nvSpPr>
          <p:cNvPr id="14" name="Shape 12"/>
          <p:cNvSpPr/>
          <p:nvPr/>
        </p:nvSpPr>
        <p:spPr>
          <a:xfrm>
            <a:off x="7905155" y="3748286"/>
            <a:ext cx="3618715" cy="1746746"/>
          </a:xfrm>
          <a:custGeom>
            <a:avLst/>
            <a:gdLst/>
            <a:ahLst/>
            <a:cxnLst/>
            <a:rect l="l" t="t" r="r" b="b"/>
            <a:pathLst>
              <a:path w="3618715" h="1746746">
                <a:moveTo>
                  <a:pt x="0" y="0"/>
                </a:moveTo>
                <a:lnTo>
                  <a:pt x="3411976" y="0"/>
                </a:lnTo>
                <a:arcTo wR="206739" hR="206744" stAng="16200000" swAng="5400000"/>
                <a:lnTo>
                  <a:pt x="3618715" y="1540002"/>
                </a:lnTo>
                <a:arcTo wR="206739" hR="206744" stAng="0" swAng="5400000"/>
                <a:lnTo>
                  <a:pt x="0" y="1746746"/>
                </a:lnTo>
                <a:lnTo>
                  <a:pt x="0" y="0"/>
                </a:lnTo>
                <a:close/>
              </a:path>
            </a:pathLst>
          </a:custGeom>
          <a:solidFill>
            <a:srgbClr val="EAE2E2"/>
          </a:solidFill>
          <a:ln/>
        </p:spPr>
        <p:txBody>
          <a:bodyPr/>
          <a:lstStyle/>
          <a:p>
            <a:endParaRPr lang="en-GB"/>
          </a:p>
        </p:txBody>
      </p:sp>
      <p:sp>
        <p:nvSpPr>
          <p:cNvPr id="15" name="Shape 13"/>
          <p:cNvSpPr/>
          <p:nvPr/>
        </p:nvSpPr>
        <p:spPr>
          <a:xfrm>
            <a:off x="7905155" y="3748286"/>
            <a:ext cx="19050" cy="1746746"/>
          </a:xfrm>
          <a:prstGeom prst="roundRect">
            <a:avLst>
              <a:gd name="adj" fmla="val 49999"/>
            </a:avLst>
          </a:prstGeom>
          <a:solidFill>
            <a:srgbClr val="D0C8C8"/>
          </a:solidFill>
          <a:ln/>
        </p:spPr>
        <p:txBody>
          <a:bodyPr/>
          <a:lstStyle/>
          <a:p>
            <a:endParaRPr lang="en-GB"/>
          </a:p>
        </p:txBody>
      </p:sp>
      <p:sp>
        <p:nvSpPr>
          <p:cNvPr id="16" name="Text 14"/>
          <p:cNvSpPr/>
          <p:nvPr/>
        </p:nvSpPr>
        <p:spPr>
          <a:xfrm>
            <a:off x="8070450" y="3913584"/>
            <a:ext cx="3288126"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Continue / Stop / Escalate?</a:t>
            </a:r>
            <a:endParaRPr lang="en-US" sz="1600" dirty="0"/>
          </a:p>
        </p:txBody>
      </p:sp>
      <p:sp>
        <p:nvSpPr>
          <p:cNvPr id="17" name="Text 15"/>
          <p:cNvSpPr/>
          <p:nvPr/>
        </p:nvSpPr>
        <p:spPr>
          <a:xfrm>
            <a:off x="8070450" y="4271268"/>
            <a:ext cx="3288126" cy="1058466"/>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33333"/>
                </a:solidFill>
                <a:latin typeface="Inter Bold" pitchFamily="34" charset="0"/>
                <a:ea typeface="Inter Bold" pitchFamily="34" charset="-122"/>
                <a:cs typeface="Inter Bold" pitchFamily="34" charset="-120"/>
              </a:rPr>
              <a:t>Stop and escalate.</a:t>
            </a:r>
            <a:r>
              <a:rPr lang="en-US" sz="1300" dirty="0">
                <a:solidFill>
                  <a:srgbClr val="333333"/>
                </a:solidFill>
                <a:latin typeface="Inter" pitchFamily="34" charset="0"/>
                <a:ea typeface="Inter" pitchFamily="34" charset="-122"/>
                <a:cs typeface="Inter" pitchFamily="34" charset="-120"/>
              </a:rPr>
              <a:t> Contact your supervisor or follow the approved process. Do not commence work unsupervised with a minor present.</a:t>
            </a:r>
            <a:endParaRPr lang="en-US" sz="1300" dirty="0"/>
          </a:p>
        </p:txBody>
      </p:sp>
      <p:pic>
        <p:nvPicPr>
          <p:cNvPr id="21" name="RRTA corner logo" descr="Rapid Response Training Academy logo">
            <a:extLst>
              <a:ext uri="{FF2B5EF4-FFF2-40B4-BE49-F238E27FC236}">
                <a16:creationId xmlns:a16="http://schemas.microsoft.com/office/drawing/2014/main" id="{5C0D3856-D1A0-0558-77E6-C9F6BEFCB1C1}"/>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77987"/>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Your Safety Matters Too</a:t>
            </a:r>
            <a:endParaRPr lang="en-US" sz="3250" dirty="0"/>
          </a:p>
        </p:txBody>
      </p:sp>
      <p:sp>
        <p:nvSpPr>
          <p:cNvPr id="3" name="Text 1"/>
          <p:cNvSpPr/>
          <p:nvPr/>
        </p:nvSpPr>
        <p:spPr>
          <a:xfrm>
            <a:off x="661475" y="2525415"/>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Protecting the customer is a core part of the role — but your personal safety carries equal weight. No job is worth completing at the cost of your own wellbeing. The environment at the start of a visit can change significantly before you finish.</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3485" y="3245743"/>
            <a:ext cx="248041" cy="248047"/>
          </a:xfrm>
          <a:prstGeom prst="rect">
            <a:avLst/>
          </a:prstGeom>
        </p:spPr>
      </p:pic>
      <p:sp>
        <p:nvSpPr>
          <p:cNvPr id="5" name="Text 2"/>
          <p:cNvSpPr/>
          <p:nvPr/>
        </p:nvSpPr>
        <p:spPr>
          <a:xfrm>
            <a:off x="1198830" y="3240683"/>
            <a:ext cx="2947715"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Continually Reassess the Environment</a:t>
            </a:r>
            <a:endParaRPr lang="en-US" sz="1600" dirty="0"/>
          </a:p>
        </p:txBody>
      </p:sp>
      <p:sp>
        <p:nvSpPr>
          <p:cNvPr id="6" name="Text 3"/>
          <p:cNvSpPr/>
          <p:nvPr/>
        </p:nvSpPr>
        <p:spPr>
          <a:xfrm>
            <a:off x="1198830" y="3856831"/>
            <a:ext cx="2947715"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What felt safe on arrival may change. New people may arrive, behaviour may escalate, or physical hazards may emerge during work.</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15223" y="3245743"/>
            <a:ext cx="248041" cy="248047"/>
          </a:xfrm>
          <a:prstGeom prst="rect">
            <a:avLst/>
          </a:prstGeom>
        </p:spPr>
      </p:pic>
      <p:sp>
        <p:nvSpPr>
          <p:cNvPr id="8" name="Text 4"/>
          <p:cNvSpPr/>
          <p:nvPr/>
        </p:nvSpPr>
        <p:spPr>
          <a:xfrm>
            <a:off x="4890568" y="3240683"/>
            <a:ext cx="294781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Know Your Exit Route</a:t>
            </a:r>
            <a:endParaRPr lang="en-US" sz="1600" dirty="0"/>
          </a:p>
        </p:txBody>
      </p:sp>
      <p:sp>
        <p:nvSpPr>
          <p:cNvPr id="9" name="Text 5"/>
          <p:cNvSpPr/>
          <p:nvPr/>
        </p:nvSpPr>
        <p:spPr>
          <a:xfrm>
            <a:off x="4890568" y="3598366"/>
            <a:ext cx="2947815"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Always maintain awareness of how to leave the property quickly and safely. Never position yourself with your exit blocked.</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07060" y="3245743"/>
            <a:ext cx="248041" cy="248047"/>
          </a:xfrm>
          <a:prstGeom prst="rect">
            <a:avLst/>
          </a:prstGeom>
        </p:spPr>
      </p:pic>
      <p:sp>
        <p:nvSpPr>
          <p:cNvPr id="11" name="Text 6"/>
          <p:cNvSpPr/>
          <p:nvPr/>
        </p:nvSpPr>
        <p:spPr>
          <a:xfrm>
            <a:off x="8582406" y="3240683"/>
            <a:ext cx="2947815"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Remove Yourself and Escalate</a:t>
            </a:r>
            <a:endParaRPr lang="en-US" sz="1600" dirty="0"/>
          </a:p>
        </p:txBody>
      </p:sp>
      <p:sp>
        <p:nvSpPr>
          <p:cNvPr id="12" name="Text 7"/>
          <p:cNvSpPr/>
          <p:nvPr/>
        </p:nvSpPr>
        <p:spPr>
          <a:xfrm>
            <a:off x="8582406" y="3856831"/>
            <a:ext cx="2947815"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If you feel unsafe at any point, withdraw to a secure position and follow the approved reporting and escalation process. Do not wait for an incident to occur.</a:t>
            </a:r>
            <a:endParaRPr lang="en-US" sz="1300" dirty="0"/>
          </a:p>
        </p:txBody>
      </p:sp>
      <p:pic>
        <p:nvPicPr>
          <p:cNvPr id="14" name="RRTA corner logo" descr="Rapid Response Training Academy logo">
            <a:extLst>
              <a:ext uri="{FF2B5EF4-FFF2-40B4-BE49-F238E27FC236}">
                <a16:creationId xmlns:a16="http://schemas.microsoft.com/office/drawing/2014/main" id="{8B95F75A-AF60-C7AB-20F1-A37578B219B3}"/>
              </a:ext>
            </a:extLst>
          </p:cNvPr>
          <p:cNvPicPr>
            <a:picLocks noChangeAspect="1"/>
          </p:cNvPicPr>
          <p:nvPr/>
        </p:nvPicPr>
        <p:blipFill>
          <a:blip r:embed="rId4">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224260"/>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Scenario – Drug Paraphernalia</a:t>
            </a:r>
            <a:endParaRPr lang="en-US" sz="3250" dirty="0"/>
          </a:p>
        </p:txBody>
      </p:sp>
      <p:sp>
        <p:nvSpPr>
          <p:cNvPr id="3" name="Text 1"/>
          <p:cNvSpPr/>
          <p:nvPr/>
        </p:nvSpPr>
        <p:spPr>
          <a:xfrm>
            <a:off x="909516" y="2257723"/>
            <a:ext cx="1062070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You enter the property and identify drug paraphernalia. Used and exposed needles are close to the proposed work area. The customer says they will move them and asks you to carry on.</a:t>
            </a:r>
            <a:endParaRPr lang="en-US" sz="1300" dirty="0"/>
          </a:p>
        </p:txBody>
      </p:sp>
      <p:sp>
        <p:nvSpPr>
          <p:cNvPr id="4" name="Shape 2"/>
          <p:cNvSpPr/>
          <p:nvPr/>
        </p:nvSpPr>
        <p:spPr>
          <a:xfrm>
            <a:off x="661475" y="2071687"/>
            <a:ext cx="19050" cy="901303"/>
          </a:xfrm>
          <a:prstGeom prst="roundRect">
            <a:avLst>
              <a:gd name="adj" fmla="val 49999"/>
            </a:avLst>
          </a:prstGeom>
          <a:solidFill>
            <a:srgbClr val="8B0B0D"/>
          </a:solidFill>
          <a:ln/>
        </p:spPr>
        <p:txBody>
          <a:bodyPr/>
          <a:lstStyle/>
          <a:p>
            <a:endParaRPr lang="en-GB"/>
          </a:p>
        </p:txBody>
      </p:sp>
      <p:sp>
        <p:nvSpPr>
          <p:cNvPr id="5" name="Text 3"/>
          <p:cNvSpPr/>
          <p:nvPr/>
        </p:nvSpPr>
        <p:spPr>
          <a:xfrm>
            <a:off x="661475" y="3159026"/>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This scenario requires immediate, clear decision-making. The health risk is serious; sharps present a genuine infection hazard. Your instinct may be to accommodate the customer and get the job done. The correct response is different.</a:t>
            </a:r>
            <a:endParaRPr lang="en-US" sz="1300" dirty="0"/>
          </a:p>
        </p:txBody>
      </p:sp>
      <p:sp>
        <p:nvSpPr>
          <p:cNvPr id="6" name="Shape 4"/>
          <p:cNvSpPr/>
          <p:nvPr/>
        </p:nvSpPr>
        <p:spPr>
          <a:xfrm>
            <a:off x="661475" y="3874294"/>
            <a:ext cx="10868745" cy="1759446"/>
          </a:xfrm>
          <a:prstGeom prst="roundRect">
            <a:avLst>
              <a:gd name="adj" fmla="val 14100"/>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7" name="Shape 5"/>
          <p:cNvSpPr/>
          <p:nvPr/>
        </p:nvSpPr>
        <p:spPr>
          <a:xfrm>
            <a:off x="667825" y="3880644"/>
            <a:ext cx="3618616" cy="1746746"/>
          </a:xfrm>
          <a:custGeom>
            <a:avLst/>
            <a:gdLst/>
            <a:ahLst/>
            <a:cxnLst/>
            <a:rect l="l" t="t" r="r" b="b"/>
            <a:pathLst>
              <a:path w="3618616" h="1746746">
                <a:moveTo>
                  <a:pt x="206739" y="0"/>
                </a:moveTo>
                <a:lnTo>
                  <a:pt x="3618616" y="0"/>
                </a:lnTo>
                <a:lnTo>
                  <a:pt x="3618616" y="1746746"/>
                </a:lnTo>
                <a:lnTo>
                  <a:pt x="206739" y="1746746"/>
                </a:lnTo>
                <a:arcTo wR="206739" hR="206744" stAng="5400000" swAng="5400000"/>
                <a:lnTo>
                  <a:pt x="0" y="206744"/>
                </a:lnTo>
                <a:arcTo wR="206739" hR="206744" stAng="10800000" swAng="5400000"/>
                <a:close/>
              </a:path>
            </a:pathLst>
          </a:custGeom>
          <a:solidFill>
            <a:srgbClr val="EAE2E2"/>
          </a:solidFill>
          <a:ln/>
        </p:spPr>
        <p:txBody>
          <a:bodyPr/>
          <a:lstStyle/>
          <a:p>
            <a:endParaRPr lang="en-GB"/>
          </a:p>
        </p:txBody>
      </p:sp>
      <p:sp>
        <p:nvSpPr>
          <p:cNvPr id="8" name="Text 6"/>
          <p:cNvSpPr/>
          <p:nvPr/>
        </p:nvSpPr>
        <p:spPr>
          <a:xfrm>
            <a:off x="833119" y="4045942"/>
            <a:ext cx="32880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What Do You Do?</a:t>
            </a:r>
            <a:endParaRPr lang="en-US" sz="1600" dirty="0"/>
          </a:p>
        </p:txBody>
      </p:sp>
      <p:sp>
        <p:nvSpPr>
          <p:cNvPr id="9" name="Text 7"/>
          <p:cNvSpPr/>
          <p:nvPr/>
        </p:nvSpPr>
        <p:spPr>
          <a:xfrm>
            <a:off x="833119" y="4403626"/>
            <a:ext cx="3288027" cy="1058466"/>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33333"/>
                </a:solidFill>
                <a:latin typeface="Inter Bold" pitchFamily="34" charset="0"/>
                <a:ea typeface="Inter Bold" pitchFamily="34" charset="-122"/>
                <a:cs typeface="Inter Bold" pitchFamily="34" charset="-120"/>
              </a:rPr>
              <a:t>Do not touch or move sharps under any circumstances.</a:t>
            </a:r>
            <a:r>
              <a:rPr lang="en-US" sz="1300" dirty="0">
                <a:solidFill>
                  <a:srgbClr val="333333"/>
                </a:solidFill>
                <a:latin typeface="Inter" pitchFamily="34" charset="0"/>
                <a:ea typeface="Inter" pitchFamily="34" charset="-122"/>
                <a:cs typeface="Inter" pitchFamily="34" charset="-120"/>
              </a:rPr>
              <a:t> Withdraw to a safe position away from the hazard. Do not continue work in the area.</a:t>
            </a:r>
            <a:endParaRPr lang="en-US" sz="1300" dirty="0"/>
          </a:p>
        </p:txBody>
      </p:sp>
      <p:sp>
        <p:nvSpPr>
          <p:cNvPr id="10" name="Shape 8"/>
          <p:cNvSpPr/>
          <p:nvPr/>
        </p:nvSpPr>
        <p:spPr>
          <a:xfrm>
            <a:off x="4286440" y="3880644"/>
            <a:ext cx="3618715" cy="1746746"/>
          </a:xfrm>
          <a:prstGeom prst="rect">
            <a:avLst/>
          </a:prstGeom>
          <a:solidFill>
            <a:srgbClr val="EAE2E2"/>
          </a:solidFill>
          <a:ln/>
        </p:spPr>
        <p:txBody>
          <a:bodyPr/>
          <a:lstStyle/>
          <a:p>
            <a:endParaRPr lang="en-GB"/>
          </a:p>
        </p:txBody>
      </p:sp>
      <p:sp>
        <p:nvSpPr>
          <p:cNvPr id="11" name="Shape 9"/>
          <p:cNvSpPr/>
          <p:nvPr/>
        </p:nvSpPr>
        <p:spPr>
          <a:xfrm>
            <a:off x="4286440" y="3880644"/>
            <a:ext cx="19050" cy="1746746"/>
          </a:xfrm>
          <a:prstGeom prst="roundRect">
            <a:avLst>
              <a:gd name="adj" fmla="val 49999"/>
            </a:avLst>
          </a:prstGeom>
          <a:solidFill>
            <a:srgbClr val="D0C8C8"/>
          </a:solidFill>
          <a:ln/>
        </p:spPr>
        <p:txBody>
          <a:bodyPr/>
          <a:lstStyle/>
          <a:p>
            <a:endParaRPr lang="en-GB"/>
          </a:p>
        </p:txBody>
      </p:sp>
      <p:sp>
        <p:nvSpPr>
          <p:cNvPr id="12" name="Text 10"/>
          <p:cNvSpPr/>
          <p:nvPr/>
        </p:nvSpPr>
        <p:spPr>
          <a:xfrm>
            <a:off x="4451735" y="4045942"/>
            <a:ext cx="3288126"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What Do You Say?</a:t>
            </a:r>
            <a:endParaRPr lang="en-US" sz="1600" dirty="0"/>
          </a:p>
        </p:txBody>
      </p:sp>
      <p:sp>
        <p:nvSpPr>
          <p:cNvPr id="13" name="Text 11"/>
          <p:cNvSpPr/>
          <p:nvPr/>
        </p:nvSpPr>
        <p:spPr>
          <a:xfrm>
            <a:off x="4451735" y="4403626"/>
            <a:ext cx="328812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Calmly explain that you are unable to work near the hazard and that the situation requires reporting before work can continue.</a:t>
            </a:r>
            <a:endParaRPr lang="en-US" sz="1300" dirty="0"/>
          </a:p>
        </p:txBody>
      </p:sp>
      <p:sp>
        <p:nvSpPr>
          <p:cNvPr id="14" name="Shape 12"/>
          <p:cNvSpPr/>
          <p:nvPr/>
        </p:nvSpPr>
        <p:spPr>
          <a:xfrm>
            <a:off x="7905155" y="3880644"/>
            <a:ext cx="3618715" cy="1746746"/>
          </a:xfrm>
          <a:custGeom>
            <a:avLst/>
            <a:gdLst/>
            <a:ahLst/>
            <a:cxnLst/>
            <a:rect l="l" t="t" r="r" b="b"/>
            <a:pathLst>
              <a:path w="3618715" h="1746746">
                <a:moveTo>
                  <a:pt x="0" y="0"/>
                </a:moveTo>
                <a:lnTo>
                  <a:pt x="3411976" y="0"/>
                </a:lnTo>
                <a:arcTo wR="206739" hR="206744" stAng="16200000" swAng="5400000"/>
                <a:lnTo>
                  <a:pt x="3618715" y="1540002"/>
                </a:lnTo>
                <a:arcTo wR="206739" hR="206744" stAng="0" swAng="5400000"/>
                <a:lnTo>
                  <a:pt x="0" y="1746746"/>
                </a:lnTo>
                <a:lnTo>
                  <a:pt x="0" y="0"/>
                </a:lnTo>
                <a:close/>
              </a:path>
            </a:pathLst>
          </a:custGeom>
          <a:solidFill>
            <a:srgbClr val="EAE2E2"/>
          </a:solidFill>
          <a:ln/>
        </p:spPr>
        <p:txBody>
          <a:bodyPr/>
          <a:lstStyle/>
          <a:p>
            <a:endParaRPr lang="en-GB"/>
          </a:p>
        </p:txBody>
      </p:sp>
      <p:sp>
        <p:nvSpPr>
          <p:cNvPr id="15" name="Shape 13"/>
          <p:cNvSpPr/>
          <p:nvPr/>
        </p:nvSpPr>
        <p:spPr>
          <a:xfrm>
            <a:off x="7905155" y="3880644"/>
            <a:ext cx="19050" cy="1746746"/>
          </a:xfrm>
          <a:prstGeom prst="roundRect">
            <a:avLst>
              <a:gd name="adj" fmla="val 49999"/>
            </a:avLst>
          </a:prstGeom>
          <a:solidFill>
            <a:srgbClr val="D0C8C8"/>
          </a:solidFill>
          <a:ln/>
        </p:spPr>
        <p:txBody>
          <a:bodyPr/>
          <a:lstStyle/>
          <a:p>
            <a:endParaRPr lang="en-GB"/>
          </a:p>
        </p:txBody>
      </p:sp>
      <p:sp>
        <p:nvSpPr>
          <p:cNvPr id="16" name="Text 14"/>
          <p:cNvSpPr/>
          <p:nvPr/>
        </p:nvSpPr>
        <p:spPr>
          <a:xfrm>
            <a:off x="8070450" y="4045942"/>
            <a:ext cx="3288126"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Continue / Stop / Escalate?</a:t>
            </a:r>
            <a:endParaRPr lang="en-US" sz="1600" dirty="0"/>
          </a:p>
        </p:txBody>
      </p:sp>
      <p:sp>
        <p:nvSpPr>
          <p:cNvPr id="17" name="Text 15"/>
          <p:cNvSpPr/>
          <p:nvPr/>
        </p:nvSpPr>
        <p:spPr>
          <a:xfrm>
            <a:off x="8070450" y="4403626"/>
            <a:ext cx="3288126" cy="1058466"/>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33333"/>
                </a:solidFill>
                <a:latin typeface="Inter Bold" pitchFamily="34" charset="0"/>
                <a:ea typeface="Inter Bold" pitchFamily="34" charset="-122"/>
                <a:cs typeface="Inter Bold" pitchFamily="34" charset="-120"/>
              </a:rPr>
              <a:t>Stop and escalate immediately.</a:t>
            </a:r>
            <a:r>
              <a:rPr lang="en-US" sz="1300" dirty="0">
                <a:solidFill>
                  <a:srgbClr val="333333"/>
                </a:solidFill>
                <a:latin typeface="Inter" pitchFamily="34" charset="0"/>
                <a:ea typeface="Inter" pitchFamily="34" charset="-122"/>
                <a:cs typeface="Inter" pitchFamily="34" charset="-120"/>
              </a:rPr>
              <a:t> Follow the approved reporting process. This is non-negotiable regardless of customer pressure.</a:t>
            </a:r>
            <a:endParaRPr lang="en-US" sz="1300" dirty="0"/>
          </a:p>
        </p:txBody>
      </p:sp>
      <p:pic>
        <p:nvPicPr>
          <p:cNvPr id="19" name="RRTA corner logo" descr="Rapid Response Training Academy logo">
            <a:extLst>
              <a:ext uri="{FF2B5EF4-FFF2-40B4-BE49-F238E27FC236}">
                <a16:creationId xmlns:a16="http://schemas.microsoft.com/office/drawing/2014/main" id="{C53560E2-4687-8CFB-C463-18BAD048E1A0}"/>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047849"/>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Would You Carry On?</a:t>
            </a:r>
            <a:endParaRPr lang="en-US" sz="3250" dirty="0"/>
          </a:p>
        </p:txBody>
      </p:sp>
      <p:sp>
        <p:nvSpPr>
          <p:cNvPr id="3" name="Text 1"/>
          <p:cNvSpPr/>
          <p:nvPr/>
        </p:nvSpPr>
        <p:spPr>
          <a:xfrm>
            <a:off x="661475" y="1895277"/>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Quick-fire decision activity. For each situation below, decide immediately: </a:t>
            </a:r>
            <a:r>
              <a:rPr lang="en-US" sz="1300" b="1" dirty="0">
                <a:solidFill>
                  <a:srgbClr val="333333"/>
                </a:solidFill>
                <a:latin typeface="Inter Bold" pitchFamily="34" charset="0"/>
                <a:ea typeface="Inter Bold" pitchFamily="34" charset="-122"/>
                <a:cs typeface="Inter Bold" pitchFamily="34" charset="-120"/>
              </a:rPr>
              <a:t>CONTINUE, STOP, or ESCALATE?</a:t>
            </a:r>
            <a:r>
              <a:rPr lang="en-US" sz="1300" dirty="0">
                <a:solidFill>
                  <a:srgbClr val="333333"/>
                </a:solidFill>
                <a:latin typeface="Inter" pitchFamily="34" charset="0"/>
                <a:ea typeface="Inter" pitchFamily="34" charset="-122"/>
                <a:cs typeface="Inter" pitchFamily="34" charset="-120"/>
              </a:rPr>
              <a:t> There is no middle ground — you must choose a position and be prepared to justify it.</a:t>
            </a:r>
            <a:endParaRPr lang="en-US" sz="1300" dirty="0"/>
          </a:p>
        </p:txBody>
      </p:sp>
      <p:sp>
        <p:nvSpPr>
          <p:cNvPr id="4" name="Shape 2"/>
          <p:cNvSpPr/>
          <p:nvPr/>
        </p:nvSpPr>
        <p:spPr>
          <a:xfrm>
            <a:off x="661475" y="2610545"/>
            <a:ext cx="3512653" cy="1778695"/>
          </a:xfrm>
          <a:prstGeom prst="roundRect">
            <a:avLst>
              <a:gd name="adj" fmla="val 1394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5" name="Text 3"/>
          <p:cNvSpPr/>
          <p:nvPr/>
        </p:nvSpPr>
        <p:spPr>
          <a:xfrm>
            <a:off x="845819" y="2794893"/>
            <a:ext cx="314396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Exposed Needles</a:t>
            </a:r>
            <a:endParaRPr lang="en-US" sz="1600" dirty="0"/>
          </a:p>
        </p:txBody>
      </p:sp>
      <p:sp>
        <p:nvSpPr>
          <p:cNvPr id="6" name="Text 4"/>
          <p:cNvSpPr/>
          <p:nvPr/>
        </p:nvSpPr>
        <p:spPr>
          <a:xfrm>
            <a:off x="845819" y="3152577"/>
            <a:ext cx="314396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Sharps visible near the work area, customer says they will deal with them.</a:t>
            </a:r>
            <a:endParaRPr lang="en-US" sz="1300" dirty="0"/>
          </a:p>
        </p:txBody>
      </p:sp>
      <p:sp>
        <p:nvSpPr>
          <p:cNvPr id="7" name="Shape 5"/>
          <p:cNvSpPr/>
          <p:nvPr/>
        </p:nvSpPr>
        <p:spPr>
          <a:xfrm>
            <a:off x="4339422" y="2610545"/>
            <a:ext cx="3512752" cy="1778695"/>
          </a:xfrm>
          <a:prstGeom prst="roundRect">
            <a:avLst>
              <a:gd name="adj" fmla="val 1394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8" name="Text 6"/>
          <p:cNvSpPr/>
          <p:nvPr/>
        </p:nvSpPr>
        <p:spPr>
          <a:xfrm>
            <a:off x="4523766" y="2794893"/>
            <a:ext cx="3144064"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Aggressive or Uncontrolled Dog</a:t>
            </a:r>
            <a:endParaRPr lang="en-US" sz="1600" dirty="0"/>
          </a:p>
        </p:txBody>
      </p:sp>
      <p:sp>
        <p:nvSpPr>
          <p:cNvPr id="9" name="Text 7"/>
          <p:cNvSpPr/>
          <p:nvPr/>
        </p:nvSpPr>
        <p:spPr>
          <a:xfrm>
            <a:off x="4523766" y="3411041"/>
            <a:ext cx="314406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Large dog blocking access to the work area, owner is dismissive of the concern.</a:t>
            </a:r>
            <a:endParaRPr lang="en-US" sz="1300" dirty="0"/>
          </a:p>
        </p:txBody>
      </p:sp>
      <p:sp>
        <p:nvSpPr>
          <p:cNvPr id="10" name="Shape 8"/>
          <p:cNvSpPr/>
          <p:nvPr/>
        </p:nvSpPr>
        <p:spPr>
          <a:xfrm>
            <a:off x="8017468" y="2610545"/>
            <a:ext cx="3512653" cy="1778695"/>
          </a:xfrm>
          <a:prstGeom prst="roundRect">
            <a:avLst>
              <a:gd name="adj" fmla="val 1394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1" name="Text 9"/>
          <p:cNvSpPr/>
          <p:nvPr/>
        </p:nvSpPr>
        <p:spPr>
          <a:xfrm>
            <a:off x="8201812" y="2794893"/>
            <a:ext cx="314396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Threatening Behaviour</a:t>
            </a:r>
            <a:endParaRPr lang="en-US" sz="1600" dirty="0"/>
          </a:p>
        </p:txBody>
      </p:sp>
      <p:sp>
        <p:nvSpPr>
          <p:cNvPr id="12" name="Text 10"/>
          <p:cNvSpPr/>
          <p:nvPr/>
        </p:nvSpPr>
        <p:spPr>
          <a:xfrm>
            <a:off x="8201812" y="3152577"/>
            <a:ext cx="3143965"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Customer raises their voice, moves into your personal space, makes threatening statements.</a:t>
            </a:r>
            <a:endParaRPr lang="en-US" sz="1300" dirty="0"/>
          </a:p>
        </p:txBody>
      </p:sp>
      <p:sp>
        <p:nvSpPr>
          <p:cNvPr id="13" name="Shape 11"/>
          <p:cNvSpPr/>
          <p:nvPr/>
        </p:nvSpPr>
        <p:spPr>
          <a:xfrm>
            <a:off x="661475" y="4554538"/>
            <a:ext cx="5351626"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4" name="Text 12"/>
          <p:cNvSpPr/>
          <p:nvPr/>
        </p:nvSpPr>
        <p:spPr>
          <a:xfrm>
            <a:off x="845819" y="4738886"/>
            <a:ext cx="4982939"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Unsafe Access</a:t>
            </a:r>
            <a:endParaRPr lang="en-US" sz="1600" dirty="0"/>
          </a:p>
        </p:txBody>
      </p:sp>
      <p:sp>
        <p:nvSpPr>
          <p:cNvPr id="15" name="Text 13"/>
          <p:cNvSpPr/>
          <p:nvPr/>
        </p:nvSpPr>
        <p:spPr>
          <a:xfrm>
            <a:off x="845819" y="5096570"/>
            <a:ext cx="498293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The only route to the work area requires crossing a visibly unsafe floor or structure.</a:t>
            </a:r>
            <a:endParaRPr lang="en-US" sz="1300" dirty="0"/>
          </a:p>
        </p:txBody>
      </p:sp>
      <p:sp>
        <p:nvSpPr>
          <p:cNvPr id="16" name="Shape 14"/>
          <p:cNvSpPr/>
          <p:nvPr/>
        </p:nvSpPr>
        <p:spPr>
          <a:xfrm>
            <a:off x="6178395" y="4554538"/>
            <a:ext cx="5351725"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7" name="Text 15"/>
          <p:cNvSpPr/>
          <p:nvPr/>
        </p:nvSpPr>
        <p:spPr>
          <a:xfrm>
            <a:off x="6362739" y="4738886"/>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Intoxicated Occupant</a:t>
            </a:r>
            <a:endParaRPr lang="en-US" sz="1600" dirty="0"/>
          </a:p>
        </p:txBody>
      </p:sp>
      <p:sp>
        <p:nvSpPr>
          <p:cNvPr id="18" name="Text 16"/>
          <p:cNvSpPr/>
          <p:nvPr/>
        </p:nvSpPr>
        <p:spPr>
          <a:xfrm>
            <a:off x="6362739" y="5096570"/>
            <a:ext cx="498303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Customer appears heavily intoxicated and their behaviour is unpredictable during your visit.</a:t>
            </a:r>
            <a:endParaRPr lang="en-US" sz="1300" dirty="0"/>
          </a:p>
        </p:txBody>
      </p:sp>
      <p:pic>
        <p:nvPicPr>
          <p:cNvPr id="20" name="RRTA corner logo" descr="Rapid Response Training Academy logo">
            <a:extLst>
              <a:ext uri="{FF2B5EF4-FFF2-40B4-BE49-F238E27FC236}">
                <a16:creationId xmlns:a16="http://schemas.microsoft.com/office/drawing/2014/main" id="{2D13DC11-2AF0-6E29-6F32-AF0F8F8CC1E4}"/>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629470"/>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Lone Working &amp; Personal Safety</a:t>
            </a:r>
            <a:endParaRPr lang="en-US" sz="3250" dirty="0"/>
          </a:p>
        </p:txBody>
      </p:sp>
      <p:sp>
        <p:nvSpPr>
          <p:cNvPr id="3" name="Text 1"/>
          <p:cNvSpPr/>
          <p:nvPr/>
        </p:nvSpPr>
        <p:spPr>
          <a:xfrm>
            <a:off x="661475" y="2476897"/>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Working alone in a customer's home carries specific risks that a team environment reduces. Risk can affect any lone engineer and is not limited to any particular individual or area — it depends on behaviour, environment, and circumstances that can change at any moment.</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192165"/>
            <a:ext cx="413434" cy="413445"/>
          </a:xfrm>
          <a:prstGeom prst="rect">
            <a:avLst/>
          </a:prstGeom>
        </p:spPr>
      </p:pic>
      <p:sp>
        <p:nvSpPr>
          <p:cNvPr id="5" name="Text 2"/>
          <p:cNvSpPr/>
          <p:nvPr/>
        </p:nvSpPr>
        <p:spPr>
          <a:xfrm>
            <a:off x="661475" y="3812282"/>
            <a:ext cx="3485071"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Stay Situationally Aware</a:t>
            </a:r>
            <a:endParaRPr lang="en-US" sz="1600" dirty="0"/>
          </a:p>
        </p:txBody>
      </p:sp>
      <p:sp>
        <p:nvSpPr>
          <p:cNvPr id="6" name="Text 3"/>
          <p:cNvSpPr/>
          <p:nvPr/>
        </p:nvSpPr>
        <p:spPr>
          <a:xfrm>
            <a:off x="661475" y="4169966"/>
            <a:ext cx="3485071"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Monitor the behaviour of everyone present, not just the named customer. New arrivals, changing moods, and unexpected visitors all affect your safety assessment.</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53213" y="3192165"/>
            <a:ext cx="413434" cy="413445"/>
          </a:xfrm>
          <a:prstGeom prst="rect">
            <a:avLst/>
          </a:prstGeom>
        </p:spPr>
      </p:pic>
      <p:sp>
        <p:nvSpPr>
          <p:cNvPr id="8" name="Text 4"/>
          <p:cNvSpPr/>
          <p:nvPr/>
        </p:nvSpPr>
        <p:spPr>
          <a:xfrm>
            <a:off x="4353213" y="3812282"/>
            <a:ext cx="348517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Maintain Your Exit Route</a:t>
            </a:r>
            <a:endParaRPr lang="en-US" sz="1600" dirty="0"/>
          </a:p>
        </p:txBody>
      </p:sp>
      <p:sp>
        <p:nvSpPr>
          <p:cNvPr id="9" name="Text 5"/>
          <p:cNvSpPr/>
          <p:nvPr/>
        </p:nvSpPr>
        <p:spPr>
          <a:xfrm>
            <a:off x="4353213" y="4169966"/>
            <a:ext cx="348517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Always know how you would leave quickly. If access to your exit becomes obstructed — even casually — treat this as a warning sign.</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5050" y="3192165"/>
            <a:ext cx="413434" cy="413445"/>
          </a:xfrm>
          <a:prstGeom prst="rect">
            <a:avLst/>
          </a:prstGeom>
        </p:spPr>
      </p:pic>
      <p:sp>
        <p:nvSpPr>
          <p:cNvPr id="11" name="Text 6"/>
          <p:cNvSpPr/>
          <p:nvPr/>
        </p:nvSpPr>
        <p:spPr>
          <a:xfrm>
            <a:off x="8045050" y="3812282"/>
            <a:ext cx="348517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Leave Before It Escalates</a:t>
            </a:r>
            <a:endParaRPr lang="en-US" sz="1600" dirty="0"/>
          </a:p>
        </p:txBody>
      </p:sp>
      <p:sp>
        <p:nvSpPr>
          <p:cNvPr id="12" name="Text 7"/>
          <p:cNvSpPr/>
          <p:nvPr/>
        </p:nvSpPr>
        <p:spPr>
          <a:xfrm>
            <a:off x="8045050" y="4169966"/>
            <a:ext cx="348517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Do not stay because the job needs to be finished. Your personal safety always takes priority. Withdraw early and report — do not wait for an incident to occur.</a:t>
            </a:r>
            <a:endParaRPr lang="en-US" sz="1300" dirty="0"/>
          </a:p>
        </p:txBody>
      </p:sp>
      <p:pic>
        <p:nvPicPr>
          <p:cNvPr id="14" name="RRTA corner logo" descr="Rapid Response Training Academy logo">
            <a:extLst>
              <a:ext uri="{FF2B5EF4-FFF2-40B4-BE49-F238E27FC236}">
                <a16:creationId xmlns:a16="http://schemas.microsoft.com/office/drawing/2014/main" id="{264351A2-7ABF-C934-99F1-6BB9473D4D36}"/>
              </a:ext>
            </a:extLst>
          </p:cNvPr>
          <p:cNvPicPr>
            <a:picLocks noChangeAspect="1"/>
          </p:cNvPicPr>
          <p:nvPr/>
        </p:nvPicPr>
        <p:blipFill>
          <a:blip r:embed="rId6">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866775"/>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Scenario – Something Doesn't Feel Right</a:t>
            </a:r>
            <a:endParaRPr lang="en-US" sz="3250" dirty="0"/>
          </a:p>
        </p:txBody>
      </p:sp>
      <p:sp>
        <p:nvSpPr>
          <p:cNvPr id="3" name="Text 1"/>
          <p:cNvSpPr/>
          <p:nvPr/>
        </p:nvSpPr>
        <p:spPr>
          <a:xfrm>
            <a:off x="909516" y="1900238"/>
            <a:ext cx="1062070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A lone engineer attends a property in an area with recent reports of violence. A group is gathering near the engineer's vehicle. The customer becomes confrontational. The easiest exit is being obstructed.</a:t>
            </a:r>
            <a:endParaRPr lang="en-US" sz="1300" dirty="0"/>
          </a:p>
        </p:txBody>
      </p:sp>
      <p:sp>
        <p:nvSpPr>
          <p:cNvPr id="4" name="Shape 2"/>
          <p:cNvSpPr/>
          <p:nvPr/>
        </p:nvSpPr>
        <p:spPr>
          <a:xfrm>
            <a:off x="661475" y="1714202"/>
            <a:ext cx="19050" cy="901303"/>
          </a:xfrm>
          <a:prstGeom prst="roundRect">
            <a:avLst>
              <a:gd name="adj" fmla="val 49999"/>
            </a:avLst>
          </a:prstGeom>
          <a:solidFill>
            <a:srgbClr val="8B0B0D"/>
          </a:solidFill>
          <a:ln/>
        </p:spPr>
        <p:txBody>
          <a:bodyPr/>
          <a:lstStyle/>
          <a:p>
            <a:endParaRPr lang="en-GB"/>
          </a:p>
        </p:txBody>
      </p:sp>
      <p:sp>
        <p:nvSpPr>
          <p:cNvPr id="5" name="Text 3"/>
          <p:cNvSpPr/>
          <p:nvPr/>
        </p:nvSpPr>
        <p:spPr>
          <a:xfrm>
            <a:off x="661475" y="2801541"/>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This scenario tests your ability to read a situation early and act before it becomes dangerous. Multiple warning signs are present simultaneously — each one alone might be manageable, but together they demand a clear decision.</a:t>
            </a:r>
            <a:endParaRPr lang="en-US" sz="1300" dirty="0"/>
          </a:p>
        </p:txBody>
      </p:sp>
      <p:sp>
        <p:nvSpPr>
          <p:cNvPr id="6" name="Shape 4"/>
          <p:cNvSpPr/>
          <p:nvPr/>
        </p:nvSpPr>
        <p:spPr>
          <a:xfrm>
            <a:off x="542415" y="3516809"/>
            <a:ext cx="5470785" cy="2474416"/>
          </a:xfrm>
          <a:prstGeom prst="roundRect">
            <a:avLst>
              <a:gd name="adj" fmla="val 16042"/>
            </a:avLst>
          </a:prstGeom>
          <a:solidFill>
            <a:srgbClr val="8B0B0D">
              <a:alpha val="95000"/>
            </a:srgbClr>
          </a:solidFill>
          <a:ln/>
        </p:spPr>
        <p:txBody>
          <a:bodyPr/>
          <a:lstStyle/>
          <a:p>
            <a:endParaRPr lang="en-GB"/>
          </a:p>
        </p:txBody>
      </p:sp>
      <p:sp>
        <p:nvSpPr>
          <p:cNvPr id="7" name="Text 5"/>
          <p:cNvSpPr/>
          <p:nvPr/>
        </p:nvSpPr>
        <p:spPr>
          <a:xfrm>
            <a:off x="707710" y="3682107"/>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FFFFFF"/>
                </a:solidFill>
                <a:latin typeface="Inter Bold" pitchFamily="34" charset="0"/>
                <a:ea typeface="Inter Bold" pitchFamily="34" charset="-122"/>
                <a:cs typeface="Inter Bold" pitchFamily="34" charset="-120"/>
              </a:rPr>
              <a:t>Warning Signs Present</a:t>
            </a:r>
            <a:endParaRPr lang="en-US" sz="1600" dirty="0"/>
          </a:p>
        </p:txBody>
      </p:sp>
      <p:sp>
        <p:nvSpPr>
          <p:cNvPr id="8" name="Text 6"/>
          <p:cNvSpPr/>
          <p:nvPr/>
        </p:nvSpPr>
        <p:spPr>
          <a:xfrm>
            <a:off x="707710" y="4105870"/>
            <a:ext cx="5140196" cy="1231999"/>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Known high-risk area</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Group gathering near your vehicle</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Confrontational customer behaviour</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Exit route becoming obstructed</a:t>
            </a:r>
            <a:endParaRPr lang="en-US" sz="1300" dirty="0"/>
          </a:p>
        </p:txBody>
      </p:sp>
      <p:sp>
        <p:nvSpPr>
          <p:cNvPr id="9" name="Text 7"/>
          <p:cNvSpPr/>
          <p:nvPr/>
        </p:nvSpPr>
        <p:spPr>
          <a:xfrm>
            <a:off x="6303904" y="3682107"/>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The Right Response</a:t>
            </a:r>
            <a:endParaRPr lang="en-US" sz="1600" dirty="0"/>
          </a:p>
        </p:txBody>
      </p:sp>
      <p:sp>
        <p:nvSpPr>
          <p:cNvPr id="10" name="Text 8"/>
          <p:cNvSpPr/>
          <p:nvPr/>
        </p:nvSpPr>
        <p:spPr>
          <a:xfrm>
            <a:off x="6303904" y="4105870"/>
            <a:ext cx="5232666" cy="1736527"/>
          </a:xfrm>
          <a:prstGeom prst="rect">
            <a:avLst/>
          </a:prstGeom>
          <a:noFill/>
          <a:ln/>
        </p:spPr>
        <p:txBody>
          <a:bodyPr wrap="square" lIns="0" tIns="0" rIns="0" bIns="0" rtlCol="0" anchor="t">
            <a:normAutofit/>
          </a:bodyPr>
          <a:lstStyle/>
          <a:p>
            <a:pPr marL="0" indent="0" algn="l">
              <a:lnSpc>
                <a:spcPct val="133000"/>
              </a:lnSpc>
              <a:spcAft>
                <a:spcPts val="1150"/>
              </a:spcAft>
              <a:buNone/>
            </a:pPr>
            <a:r>
              <a:rPr lang="en-US" sz="1300" dirty="0">
                <a:solidFill>
                  <a:srgbClr val="333333"/>
                </a:solidFill>
                <a:latin typeface="Inter" pitchFamily="34" charset="0"/>
                <a:ea typeface="Inter" pitchFamily="34" charset="-122"/>
                <a:cs typeface="Inter" pitchFamily="34" charset="-120"/>
              </a:rPr>
              <a:t>Do not stay to complete the job. The combination of these factors justifies early withdrawal. Move to a safe position, contact your supervisor, and follow the escalation process. Document everything accurately.</a:t>
            </a:r>
            <a:endParaRPr lang="en-US" sz="1300" dirty="0"/>
          </a:p>
          <a:p>
            <a:pPr marL="0" indent="0" algn="l">
              <a:lnSpc>
                <a:spcPct val="133000"/>
              </a:lnSpc>
              <a:buNone/>
            </a:pPr>
            <a:r>
              <a:rPr lang="en-US" sz="1300" b="1" dirty="0">
                <a:solidFill>
                  <a:srgbClr val="333333"/>
                </a:solidFill>
                <a:latin typeface="Inter Bold" pitchFamily="34" charset="0"/>
                <a:ea typeface="Inter Bold" pitchFamily="34" charset="-122"/>
                <a:cs typeface="Inter Bold" pitchFamily="34" charset="-120"/>
              </a:rPr>
              <a:t>Early withdrawal is not failure — it is correct professional judgement.</a:t>
            </a:r>
            <a:endParaRPr lang="en-US" sz="1300" dirty="0"/>
          </a:p>
        </p:txBody>
      </p:sp>
      <p:pic>
        <p:nvPicPr>
          <p:cNvPr id="12" name="RRTA corner logo" descr="Rapid Response Training Academy logo">
            <a:extLst>
              <a:ext uri="{FF2B5EF4-FFF2-40B4-BE49-F238E27FC236}">
                <a16:creationId xmlns:a16="http://schemas.microsoft.com/office/drawing/2014/main" id="{A18B3880-4788-F517-B775-C2AEF5860AE2}"/>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1039019"/>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AGREE – Before You Drill</a:t>
            </a:r>
            <a:endParaRPr lang="en-US" sz="3250" dirty="0"/>
          </a:p>
        </p:txBody>
      </p:sp>
      <p:sp>
        <p:nvSpPr>
          <p:cNvPr id="3" name="Text 1"/>
          <p:cNvSpPr/>
          <p:nvPr/>
        </p:nvSpPr>
        <p:spPr>
          <a:xfrm>
            <a:off x="661475" y="1886446"/>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Agreement is not a formality; it is protection for both you and the customer. Work carried out without clear agreement is a leading cause of complaints, disputes, and damage claims. Never assume the customer understands what you intend to do.</a:t>
            </a:r>
            <a:endParaRPr lang="en-US" sz="1300" dirty="0"/>
          </a:p>
        </p:txBody>
      </p:sp>
      <p:sp>
        <p:nvSpPr>
          <p:cNvPr id="4" name="Text 2"/>
          <p:cNvSpPr/>
          <p:nvPr/>
        </p:nvSpPr>
        <p:spPr>
          <a:xfrm>
            <a:off x="661475" y="2601714"/>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333333"/>
                </a:solidFill>
                <a:latin typeface="Inter Light" pitchFamily="34" charset="0"/>
                <a:ea typeface="Inter Light" pitchFamily="34" charset="-122"/>
                <a:cs typeface="Inter Light" pitchFamily="34" charset="-120"/>
              </a:rPr>
              <a:t>01</a:t>
            </a:r>
            <a:endParaRPr lang="en-US" sz="1300" dirty="0"/>
          </a:p>
        </p:txBody>
      </p:sp>
      <p:sp>
        <p:nvSpPr>
          <p:cNvPr id="5" name="Shape 3"/>
          <p:cNvSpPr/>
          <p:nvPr/>
        </p:nvSpPr>
        <p:spPr>
          <a:xfrm>
            <a:off x="661475" y="2863652"/>
            <a:ext cx="5351725" cy="19050"/>
          </a:xfrm>
          <a:prstGeom prst="rect">
            <a:avLst/>
          </a:prstGeom>
          <a:solidFill>
            <a:srgbClr val="8B0B0D"/>
          </a:solidFill>
          <a:ln/>
        </p:spPr>
        <p:txBody>
          <a:bodyPr/>
          <a:lstStyle/>
          <a:p>
            <a:endParaRPr lang="en-GB"/>
          </a:p>
        </p:txBody>
      </p:sp>
      <p:sp>
        <p:nvSpPr>
          <p:cNvPr id="6" name="Text 4"/>
          <p:cNvSpPr/>
          <p:nvPr/>
        </p:nvSpPr>
        <p:spPr>
          <a:xfrm>
            <a:off x="661475" y="2984401"/>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Explain in Plain Language</a:t>
            </a:r>
            <a:endParaRPr lang="en-US" sz="1600" dirty="0"/>
          </a:p>
        </p:txBody>
      </p:sp>
      <p:sp>
        <p:nvSpPr>
          <p:cNvPr id="7" name="Text 5"/>
          <p:cNvSpPr/>
          <p:nvPr/>
        </p:nvSpPr>
        <p:spPr>
          <a:xfrm>
            <a:off x="661475" y="3342084"/>
            <a:ext cx="5351725"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Describe the planned work, route, and equipment locations without using technical jargon. Confirm the customer understands before proceeding.</a:t>
            </a:r>
            <a:endParaRPr lang="en-US" sz="1300" dirty="0"/>
          </a:p>
        </p:txBody>
      </p:sp>
      <p:sp>
        <p:nvSpPr>
          <p:cNvPr id="8" name="Text 6"/>
          <p:cNvSpPr/>
          <p:nvPr/>
        </p:nvSpPr>
        <p:spPr>
          <a:xfrm>
            <a:off x="6178495" y="2601714"/>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333333"/>
                </a:solidFill>
                <a:latin typeface="Inter Light" pitchFamily="34" charset="0"/>
                <a:ea typeface="Inter Light" pitchFamily="34" charset="-122"/>
                <a:cs typeface="Inter Light" pitchFamily="34" charset="-120"/>
              </a:rPr>
              <a:t>02</a:t>
            </a:r>
            <a:endParaRPr lang="en-US" sz="1300" dirty="0"/>
          </a:p>
        </p:txBody>
      </p:sp>
      <p:sp>
        <p:nvSpPr>
          <p:cNvPr id="9" name="Shape 7"/>
          <p:cNvSpPr/>
          <p:nvPr/>
        </p:nvSpPr>
        <p:spPr>
          <a:xfrm>
            <a:off x="6178495" y="2863652"/>
            <a:ext cx="5351725" cy="19050"/>
          </a:xfrm>
          <a:prstGeom prst="rect">
            <a:avLst/>
          </a:prstGeom>
          <a:solidFill>
            <a:srgbClr val="8B0B0D"/>
          </a:solidFill>
          <a:ln/>
        </p:spPr>
        <p:txBody>
          <a:bodyPr/>
          <a:lstStyle/>
          <a:p>
            <a:endParaRPr lang="en-GB"/>
          </a:p>
        </p:txBody>
      </p:sp>
      <p:sp>
        <p:nvSpPr>
          <p:cNvPr id="10" name="Text 8"/>
          <p:cNvSpPr/>
          <p:nvPr/>
        </p:nvSpPr>
        <p:spPr>
          <a:xfrm>
            <a:off x="6178495" y="2984401"/>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Agree Cable Routes &amp; Equipment Locations</a:t>
            </a:r>
            <a:endParaRPr lang="en-US" sz="1600" dirty="0"/>
          </a:p>
        </p:txBody>
      </p:sp>
      <p:sp>
        <p:nvSpPr>
          <p:cNvPr id="11" name="Text 9"/>
          <p:cNvSpPr/>
          <p:nvPr/>
        </p:nvSpPr>
        <p:spPr>
          <a:xfrm>
            <a:off x="6178495" y="3342084"/>
            <a:ext cx="535172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Physically show and confirm where cables will run and where equipment will be placed. Get a clear verbal agreement.</a:t>
            </a:r>
            <a:endParaRPr lang="en-US" sz="1300" dirty="0"/>
          </a:p>
        </p:txBody>
      </p:sp>
      <p:sp>
        <p:nvSpPr>
          <p:cNvPr id="12" name="Text 10"/>
          <p:cNvSpPr/>
          <p:nvPr/>
        </p:nvSpPr>
        <p:spPr>
          <a:xfrm>
            <a:off x="661475" y="4425255"/>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333333"/>
                </a:solidFill>
                <a:latin typeface="Inter Light" pitchFamily="34" charset="0"/>
                <a:ea typeface="Inter Light" pitchFamily="34" charset="-122"/>
                <a:cs typeface="Inter Light" pitchFamily="34" charset="-120"/>
              </a:rPr>
              <a:t>03</a:t>
            </a:r>
            <a:endParaRPr lang="en-US" sz="1300" dirty="0"/>
          </a:p>
        </p:txBody>
      </p:sp>
      <p:sp>
        <p:nvSpPr>
          <p:cNvPr id="13" name="Shape 11"/>
          <p:cNvSpPr/>
          <p:nvPr/>
        </p:nvSpPr>
        <p:spPr>
          <a:xfrm>
            <a:off x="661475" y="4687193"/>
            <a:ext cx="5351725" cy="19050"/>
          </a:xfrm>
          <a:prstGeom prst="rect">
            <a:avLst/>
          </a:prstGeom>
          <a:solidFill>
            <a:srgbClr val="8B0B0D"/>
          </a:solidFill>
          <a:ln/>
        </p:spPr>
        <p:txBody>
          <a:bodyPr/>
          <a:lstStyle/>
          <a:p>
            <a:endParaRPr lang="en-GB"/>
          </a:p>
        </p:txBody>
      </p:sp>
      <p:sp>
        <p:nvSpPr>
          <p:cNvPr id="14" name="Text 12"/>
          <p:cNvSpPr/>
          <p:nvPr/>
        </p:nvSpPr>
        <p:spPr>
          <a:xfrm>
            <a:off x="661475" y="4807942"/>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Set Realistic Expectations</a:t>
            </a:r>
            <a:endParaRPr lang="en-US" sz="1600" dirty="0"/>
          </a:p>
        </p:txBody>
      </p:sp>
      <p:sp>
        <p:nvSpPr>
          <p:cNvPr id="15" name="Text 13"/>
          <p:cNvSpPr/>
          <p:nvPr/>
        </p:nvSpPr>
        <p:spPr>
          <a:xfrm>
            <a:off x="661475" y="5165626"/>
            <a:ext cx="535172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Be honest about timescales, limitations, and what the finished result will look like. Avoid over-promising.</a:t>
            </a:r>
            <a:endParaRPr lang="en-US" sz="1300" dirty="0"/>
          </a:p>
        </p:txBody>
      </p:sp>
      <p:sp>
        <p:nvSpPr>
          <p:cNvPr id="16" name="Text 14"/>
          <p:cNvSpPr/>
          <p:nvPr/>
        </p:nvSpPr>
        <p:spPr>
          <a:xfrm>
            <a:off x="6178495" y="4425255"/>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333333"/>
                </a:solidFill>
                <a:latin typeface="Inter Light" pitchFamily="34" charset="0"/>
                <a:ea typeface="Inter Light" pitchFamily="34" charset="-122"/>
                <a:cs typeface="Inter Light" pitchFamily="34" charset="-120"/>
              </a:rPr>
              <a:t>04</a:t>
            </a:r>
            <a:endParaRPr lang="en-US" sz="1300" dirty="0"/>
          </a:p>
        </p:txBody>
      </p:sp>
      <p:sp>
        <p:nvSpPr>
          <p:cNvPr id="17" name="Shape 15"/>
          <p:cNvSpPr/>
          <p:nvPr/>
        </p:nvSpPr>
        <p:spPr>
          <a:xfrm>
            <a:off x="6178495" y="4687193"/>
            <a:ext cx="5351725" cy="19050"/>
          </a:xfrm>
          <a:prstGeom prst="rect">
            <a:avLst/>
          </a:prstGeom>
          <a:solidFill>
            <a:srgbClr val="8B0B0D"/>
          </a:solidFill>
          <a:ln/>
        </p:spPr>
        <p:txBody>
          <a:bodyPr/>
          <a:lstStyle/>
          <a:p>
            <a:endParaRPr lang="en-GB"/>
          </a:p>
        </p:txBody>
      </p:sp>
      <p:sp>
        <p:nvSpPr>
          <p:cNvPr id="18" name="Text 16"/>
          <p:cNvSpPr/>
          <p:nvPr/>
        </p:nvSpPr>
        <p:spPr>
          <a:xfrm>
            <a:off x="6178495" y="4807942"/>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Gain Permission Before Starting or Changing</a:t>
            </a:r>
            <a:endParaRPr lang="en-US" sz="1600" dirty="0"/>
          </a:p>
        </p:txBody>
      </p:sp>
      <p:sp>
        <p:nvSpPr>
          <p:cNvPr id="19" name="Text 17"/>
          <p:cNvSpPr/>
          <p:nvPr/>
        </p:nvSpPr>
        <p:spPr>
          <a:xfrm>
            <a:off x="6178495" y="5165626"/>
            <a:ext cx="535172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Any deviation from the agreed plan, however minor, requires fresh agreement with the customer before work continues.</a:t>
            </a:r>
            <a:endParaRPr lang="en-US" sz="1300" dirty="0"/>
          </a:p>
        </p:txBody>
      </p:sp>
      <p:pic>
        <p:nvPicPr>
          <p:cNvPr id="21" name="RRTA corner logo" descr="Rapid Response Training Academy logo">
            <a:extLst>
              <a:ext uri="{FF2B5EF4-FFF2-40B4-BE49-F238E27FC236}">
                <a16:creationId xmlns:a16="http://schemas.microsoft.com/office/drawing/2014/main" id="{42C02D63-D11E-F8A2-7783-4FAB254BE103}"/>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1542554"/>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Activity – Explain It Without Jargon</a:t>
            </a:r>
            <a:endParaRPr lang="en-US" sz="3250" dirty="0"/>
          </a:p>
        </p:txBody>
      </p:sp>
      <p:sp>
        <p:nvSpPr>
          <p:cNvPr id="3" name="Text 1"/>
          <p:cNvSpPr/>
          <p:nvPr/>
        </p:nvSpPr>
        <p:spPr>
          <a:xfrm>
            <a:off x="661475" y="2389981"/>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Technical language is second nature to engineers — but it is a barrier to customers. This paired activity challenges you to communicate a real installation clearly and professionally, using only language a non-technical person can understand.</a:t>
            </a:r>
            <a:endParaRPr lang="en-US" sz="1300" dirty="0"/>
          </a:p>
        </p:txBody>
      </p:sp>
      <p:sp>
        <p:nvSpPr>
          <p:cNvPr id="4" name="Shape 2"/>
          <p:cNvSpPr/>
          <p:nvPr/>
        </p:nvSpPr>
        <p:spPr>
          <a:xfrm>
            <a:off x="661475" y="3105249"/>
            <a:ext cx="5351725" cy="1494830"/>
          </a:xfrm>
          <a:prstGeom prst="roundRect">
            <a:avLst>
              <a:gd name="adj" fmla="val 16596"/>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5" name="Text 3"/>
          <p:cNvSpPr/>
          <p:nvPr/>
        </p:nvSpPr>
        <p:spPr>
          <a:xfrm>
            <a:off x="833119" y="3276898"/>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Engineer Role</a:t>
            </a:r>
            <a:endParaRPr lang="en-US" sz="1600" dirty="0"/>
          </a:p>
        </p:txBody>
      </p:sp>
      <p:sp>
        <p:nvSpPr>
          <p:cNvPr id="6" name="Text 4"/>
          <p:cNvSpPr/>
          <p:nvPr/>
        </p:nvSpPr>
        <p:spPr>
          <a:xfrm>
            <a:off x="833119" y="3634581"/>
            <a:ext cx="500843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Explain a fibre installation — including the route, equipment, and expected result — to a customer who has no telecoms knowledge. Use simple, everyday language throughout.</a:t>
            </a:r>
            <a:endParaRPr lang="en-US" sz="1300" dirty="0"/>
          </a:p>
        </p:txBody>
      </p:sp>
      <p:sp>
        <p:nvSpPr>
          <p:cNvPr id="7" name="Shape 5"/>
          <p:cNvSpPr/>
          <p:nvPr/>
        </p:nvSpPr>
        <p:spPr>
          <a:xfrm>
            <a:off x="6178495" y="3105249"/>
            <a:ext cx="5351725" cy="1494830"/>
          </a:xfrm>
          <a:prstGeom prst="roundRect">
            <a:avLst>
              <a:gd name="adj" fmla="val 16596"/>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8" name="Text 6"/>
          <p:cNvSpPr/>
          <p:nvPr/>
        </p:nvSpPr>
        <p:spPr>
          <a:xfrm>
            <a:off x="6350139" y="3276898"/>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Customer Role</a:t>
            </a:r>
            <a:endParaRPr lang="en-US" sz="1600" dirty="0"/>
          </a:p>
        </p:txBody>
      </p:sp>
      <p:sp>
        <p:nvSpPr>
          <p:cNvPr id="9" name="Text 7"/>
          <p:cNvSpPr/>
          <p:nvPr/>
        </p:nvSpPr>
        <p:spPr>
          <a:xfrm>
            <a:off x="6350139" y="3634581"/>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Listen as a real customer would. Ask questions if anything is unclear. After two minutes, swap roles and repeat the exercise.</a:t>
            </a:r>
            <a:endParaRPr lang="en-US" sz="1300" dirty="0"/>
          </a:p>
        </p:txBody>
      </p:sp>
      <p:sp>
        <p:nvSpPr>
          <p:cNvPr id="10" name="Text 8"/>
          <p:cNvSpPr/>
          <p:nvPr/>
        </p:nvSpPr>
        <p:spPr>
          <a:xfrm>
            <a:off x="661475" y="4786114"/>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Terms to </a:t>
            </a:r>
            <a:r>
              <a:rPr lang="en-US" sz="1300" b="1" dirty="0">
                <a:solidFill>
                  <a:srgbClr val="333333"/>
                </a:solidFill>
                <a:latin typeface="Inter Bold" pitchFamily="34" charset="0"/>
                <a:ea typeface="Inter Bold" pitchFamily="34" charset="-122"/>
                <a:cs typeface="Inter Bold" pitchFamily="34" charset="-120"/>
              </a:rPr>
              <a:t>avoid unless clearly explained</a:t>
            </a:r>
            <a:r>
              <a:rPr lang="en-US" sz="1300" dirty="0">
                <a:solidFill>
                  <a:srgbClr val="333333"/>
                </a:solidFill>
                <a:latin typeface="Inter" pitchFamily="34" charset="0"/>
                <a:ea typeface="Inter" pitchFamily="34" charset="-122"/>
                <a:cs typeface="Inter" pitchFamily="34" charset="-120"/>
              </a:rPr>
              <a:t>: CSP, ONT, splice, CBT, RJ45, attenuation, throughput. If you use a technical term, follow it immediately with a plain-English explanation.</a:t>
            </a:r>
            <a:endParaRPr lang="en-US" sz="1300" dirty="0"/>
          </a:p>
        </p:txBody>
      </p:sp>
      <p:pic>
        <p:nvPicPr>
          <p:cNvPr id="12" name="RRTA corner logo" descr="Rapid Response Training Academy logo">
            <a:extLst>
              <a:ext uri="{FF2B5EF4-FFF2-40B4-BE49-F238E27FC236}">
                <a16:creationId xmlns:a16="http://schemas.microsoft.com/office/drawing/2014/main" id="{003792FE-9E28-C7D3-1D5F-B0ABE892D9AA}"/>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866775"/>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Scenario – Can You Move That For Me?</a:t>
            </a:r>
            <a:endParaRPr lang="en-US" sz="3250" dirty="0"/>
          </a:p>
        </p:txBody>
      </p:sp>
      <p:sp>
        <p:nvSpPr>
          <p:cNvPr id="3" name="Text 1"/>
          <p:cNvSpPr/>
          <p:nvPr/>
        </p:nvSpPr>
        <p:spPr>
          <a:xfrm>
            <a:off x="909516" y="1900238"/>
            <a:ext cx="1062070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The agreed equipment location is behind a large cabinet. The customer says: </a:t>
            </a:r>
            <a:r>
              <a:rPr lang="en-US" sz="1300" i="1" dirty="0">
                <a:solidFill>
                  <a:srgbClr val="333333"/>
                </a:solidFill>
                <a:latin typeface="Inter" pitchFamily="34" charset="0"/>
                <a:ea typeface="Inter" pitchFamily="34" charset="-122"/>
                <a:cs typeface="Inter" pitchFamily="34" charset="-120"/>
              </a:rPr>
              <a:t>"Just give me a hand moving it."</a:t>
            </a:r>
            <a:r>
              <a:rPr lang="en-US" sz="1300" dirty="0">
                <a:solidFill>
                  <a:srgbClr val="333333"/>
                </a:solidFill>
                <a:latin typeface="Inter" pitchFamily="34" charset="0"/>
                <a:ea typeface="Inter" pitchFamily="34" charset="-122"/>
                <a:cs typeface="Inter" pitchFamily="34" charset="-120"/>
              </a:rPr>
              <a:t> The engineer needs access before the installation can continue.</a:t>
            </a:r>
            <a:endParaRPr lang="en-US" sz="1300" dirty="0"/>
          </a:p>
        </p:txBody>
      </p:sp>
      <p:sp>
        <p:nvSpPr>
          <p:cNvPr id="4" name="Shape 2"/>
          <p:cNvSpPr/>
          <p:nvPr/>
        </p:nvSpPr>
        <p:spPr>
          <a:xfrm>
            <a:off x="661475" y="1714202"/>
            <a:ext cx="19050" cy="901303"/>
          </a:xfrm>
          <a:prstGeom prst="roundRect">
            <a:avLst>
              <a:gd name="adj" fmla="val 49999"/>
            </a:avLst>
          </a:prstGeom>
          <a:solidFill>
            <a:srgbClr val="8B0B0D"/>
          </a:solidFill>
          <a:ln/>
        </p:spPr>
        <p:txBody>
          <a:bodyPr/>
          <a:lstStyle/>
          <a:p>
            <a:endParaRPr lang="en-GB"/>
          </a:p>
        </p:txBody>
      </p:sp>
      <p:sp>
        <p:nvSpPr>
          <p:cNvPr id="5" name="Text 3"/>
          <p:cNvSpPr/>
          <p:nvPr/>
        </p:nvSpPr>
        <p:spPr>
          <a:xfrm>
            <a:off x="661475" y="2801541"/>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This is a common and awkward moment. The customer's request is reasonable from their perspective — but company procedure is clear. The challenge is to decline without damaging the relationship or leaving the job incomplete.</a:t>
            </a:r>
            <a:endParaRPr lang="en-US" sz="1300" dirty="0"/>
          </a:p>
        </p:txBody>
      </p:sp>
      <p:sp>
        <p:nvSpPr>
          <p:cNvPr id="6" name="Shape 4"/>
          <p:cNvSpPr/>
          <p:nvPr/>
        </p:nvSpPr>
        <p:spPr>
          <a:xfrm>
            <a:off x="542415" y="3516809"/>
            <a:ext cx="5470785" cy="2474416"/>
          </a:xfrm>
          <a:prstGeom prst="roundRect">
            <a:avLst>
              <a:gd name="adj" fmla="val 16042"/>
            </a:avLst>
          </a:prstGeom>
          <a:solidFill>
            <a:srgbClr val="8B0B0D">
              <a:alpha val="95000"/>
            </a:srgbClr>
          </a:solidFill>
          <a:ln/>
        </p:spPr>
        <p:txBody>
          <a:bodyPr/>
          <a:lstStyle/>
          <a:p>
            <a:endParaRPr lang="en-GB"/>
          </a:p>
        </p:txBody>
      </p:sp>
      <p:sp>
        <p:nvSpPr>
          <p:cNvPr id="7" name="Text 5"/>
          <p:cNvSpPr/>
          <p:nvPr/>
        </p:nvSpPr>
        <p:spPr>
          <a:xfrm>
            <a:off x="707710" y="4102845"/>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FFFFFF"/>
                </a:solidFill>
                <a:latin typeface="Inter Bold" pitchFamily="34" charset="0"/>
                <a:ea typeface="Inter Bold" pitchFamily="34" charset="-122"/>
                <a:cs typeface="Inter Bold" pitchFamily="34" charset="-120"/>
              </a:rPr>
              <a:t>The Standard</a:t>
            </a:r>
            <a:endParaRPr lang="en-US" sz="1600" dirty="0"/>
          </a:p>
        </p:txBody>
      </p:sp>
      <p:sp>
        <p:nvSpPr>
          <p:cNvPr id="8" name="Text 6"/>
          <p:cNvSpPr/>
          <p:nvPr/>
        </p:nvSpPr>
        <p:spPr>
          <a:xfrm>
            <a:off x="707710" y="4433007"/>
            <a:ext cx="5140196"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Inter" pitchFamily="34" charset="0"/>
                <a:ea typeface="Inter" pitchFamily="34" charset="-122"/>
                <a:cs typeface="Inter" pitchFamily="34" charset="-120"/>
              </a:rPr>
              <a:t>Do </a:t>
            </a:r>
            <a:r>
              <a:rPr lang="en-US" sz="1300" b="1" dirty="0">
                <a:solidFill>
                  <a:srgbClr val="FFFFFF"/>
                </a:solidFill>
                <a:latin typeface="Inter Bold" pitchFamily="34" charset="0"/>
                <a:ea typeface="Inter Bold" pitchFamily="34" charset="-122"/>
                <a:cs typeface="Inter Bold" pitchFamily="34" charset="-120"/>
              </a:rPr>
              <a:t>not</a:t>
            </a:r>
            <a:r>
              <a:rPr lang="en-US" sz="1300" dirty="0">
                <a:solidFill>
                  <a:srgbClr val="FFFFFF"/>
                </a:solidFill>
                <a:latin typeface="Inter" pitchFamily="34" charset="0"/>
                <a:ea typeface="Inter" pitchFamily="34" charset="-122"/>
                <a:cs typeface="Inter" pitchFamily="34" charset="-120"/>
              </a:rPr>
              <a:t> move customer furniture where company procedure prohibits it. This rule exists to protect both the customer's belongings and the engineer from liability if damage occurs.</a:t>
            </a:r>
            <a:endParaRPr lang="en-US" sz="1300" dirty="0"/>
          </a:p>
        </p:txBody>
      </p:sp>
      <p:sp>
        <p:nvSpPr>
          <p:cNvPr id="9" name="Text 7"/>
          <p:cNvSpPr/>
          <p:nvPr/>
        </p:nvSpPr>
        <p:spPr>
          <a:xfrm>
            <a:off x="6303904" y="3682107"/>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Professional Response</a:t>
            </a:r>
            <a:endParaRPr lang="en-US" sz="1600" dirty="0"/>
          </a:p>
        </p:txBody>
      </p:sp>
      <p:sp>
        <p:nvSpPr>
          <p:cNvPr id="10" name="Text 8"/>
          <p:cNvSpPr/>
          <p:nvPr/>
        </p:nvSpPr>
        <p:spPr>
          <a:xfrm>
            <a:off x="6303904" y="4105870"/>
            <a:ext cx="5232666" cy="1736527"/>
          </a:xfrm>
          <a:prstGeom prst="rect">
            <a:avLst/>
          </a:prstGeom>
          <a:noFill/>
          <a:ln/>
        </p:spPr>
        <p:txBody>
          <a:bodyPr wrap="square" lIns="0" tIns="0" rIns="0" bIns="0" rtlCol="0" anchor="t">
            <a:normAutofit/>
          </a:bodyPr>
          <a:lstStyle/>
          <a:p>
            <a:pPr marL="0" indent="0" algn="l">
              <a:lnSpc>
                <a:spcPct val="133000"/>
              </a:lnSpc>
              <a:spcAft>
                <a:spcPts val="1150"/>
              </a:spcAft>
              <a:buNone/>
            </a:pPr>
            <a:r>
              <a:rPr lang="en-US" sz="1300" i="1" dirty="0">
                <a:solidFill>
                  <a:srgbClr val="333333"/>
                </a:solidFill>
                <a:latin typeface="Inter" pitchFamily="34" charset="0"/>
                <a:ea typeface="Inter" pitchFamily="34" charset="-122"/>
                <a:cs typeface="Inter" pitchFamily="34" charset="-120"/>
              </a:rPr>
              <a:t>"I am not able to move customer furniture as part of this visit, but if the area can be made accessible I will be happy to continue with the installation straight away."</a:t>
            </a:r>
            <a:endParaRPr lang="en-US" sz="1300" dirty="0"/>
          </a:p>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Offer to wait a short time, suggest the customer asks another household member, or discuss an alternative equipment location if one is feasible.</a:t>
            </a:r>
            <a:endParaRPr lang="en-US" sz="1300" dirty="0"/>
          </a:p>
        </p:txBody>
      </p:sp>
      <p:pic>
        <p:nvPicPr>
          <p:cNvPr id="12" name="RRTA corner logo" descr="Rapid Response Training Academy logo">
            <a:extLst>
              <a:ext uri="{FF2B5EF4-FFF2-40B4-BE49-F238E27FC236}">
                <a16:creationId xmlns:a16="http://schemas.microsoft.com/office/drawing/2014/main" id="{C16F4D9A-10A2-B85E-84FA-E97A59C8ACE6}"/>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1493639"/>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How Do You Say No Professionally?</a:t>
            </a:r>
            <a:endParaRPr lang="en-US" sz="3250" dirty="0"/>
          </a:p>
        </p:txBody>
      </p:sp>
      <p:sp>
        <p:nvSpPr>
          <p:cNvPr id="3" name="Text 1"/>
          <p:cNvSpPr/>
          <p:nvPr/>
        </p:nvSpPr>
        <p:spPr>
          <a:xfrm>
            <a:off x="661475" y="2341066"/>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Refusing a customer request without causing offence is a real skill. The goal is to be clear and honest about the limitation while keeping the relationship positive and leaving the customer with a route forward.</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056334"/>
            <a:ext cx="3512653" cy="2307927"/>
          </a:xfrm>
          <a:prstGeom prst="rect">
            <a:avLst/>
          </a:prstGeom>
        </p:spPr>
      </p:pic>
      <p:sp>
        <p:nvSpPr>
          <p:cNvPr id="5" name="Text 2"/>
          <p:cNvSpPr/>
          <p:nvPr/>
        </p:nvSpPr>
        <p:spPr>
          <a:xfrm>
            <a:off x="922017" y="3240683"/>
            <a:ext cx="306776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Avoid: "Not my job."</a:t>
            </a:r>
            <a:endParaRPr lang="en-US" sz="1600" dirty="0"/>
          </a:p>
        </p:txBody>
      </p:sp>
      <p:sp>
        <p:nvSpPr>
          <p:cNvPr id="6" name="Text 3"/>
          <p:cNvSpPr/>
          <p:nvPr/>
        </p:nvSpPr>
        <p:spPr>
          <a:xfrm>
            <a:off x="922017" y="3598366"/>
            <a:ext cx="3067767"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Blunt refusals without explanation feel dismissive and unhelpful. They create frustration and often lead to escalated complaints.</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39422" y="3056334"/>
            <a:ext cx="3512752" cy="2307927"/>
          </a:xfrm>
          <a:prstGeom prst="rect">
            <a:avLst/>
          </a:prstGeom>
        </p:spPr>
      </p:pic>
      <p:sp>
        <p:nvSpPr>
          <p:cNvPr id="8" name="Text 4"/>
          <p:cNvSpPr/>
          <p:nvPr/>
        </p:nvSpPr>
        <p:spPr>
          <a:xfrm>
            <a:off x="4599964" y="3240683"/>
            <a:ext cx="3067866"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Avoid: "I can't do that."</a:t>
            </a:r>
            <a:endParaRPr lang="en-US" sz="1600" dirty="0"/>
          </a:p>
        </p:txBody>
      </p:sp>
      <p:sp>
        <p:nvSpPr>
          <p:cNvPr id="9" name="Text 5"/>
          <p:cNvSpPr/>
          <p:nvPr/>
        </p:nvSpPr>
        <p:spPr>
          <a:xfrm>
            <a:off x="4599964" y="3598366"/>
            <a:ext cx="306786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A flat "can't" without context gives the customer nowhere to go and no understanding of why the request cannot be met.</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17468" y="3056334"/>
            <a:ext cx="3512653" cy="2307927"/>
          </a:xfrm>
          <a:prstGeom prst="rect">
            <a:avLst/>
          </a:prstGeom>
        </p:spPr>
      </p:pic>
      <p:sp>
        <p:nvSpPr>
          <p:cNvPr id="11" name="Text 6"/>
          <p:cNvSpPr/>
          <p:nvPr/>
        </p:nvSpPr>
        <p:spPr>
          <a:xfrm>
            <a:off x="8278010" y="3240683"/>
            <a:ext cx="3067767"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Better: Explain + Offer a Path Forward</a:t>
            </a:r>
            <a:endParaRPr lang="en-US" sz="1600" dirty="0"/>
          </a:p>
        </p:txBody>
      </p:sp>
      <p:sp>
        <p:nvSpPr>
          <p:cNvPr id="12" name="Text 7"/>
          <p:cNvSpPr/>
          <p:nvPr/>
        </p:nvSpPr>
        <p:spPr>
          <a:xfrm>
            <a:off x="8278010" y="3856831"/>
            <a:ext cx="3067767" cy="1323082"/>
          </a:xfrm>
          <a:prstGeom prst="rect">
            <a:avLst/>
          </a:prstGeom>
          <a:noFill/>
          <a:ln/>
        </p:spPr>
        <p:txBody>
          <a:bodyPr wrap="square" lIns="0" tIns="0" rIns="0" bIns="0" rtlCol="0" anchor="t">
            <a:normAutofit/>
          </a:bodyPr>
          <a:lstStyle/>
          <a:p>
            <a:pPr marL="0" indent="0" algn="l">
              <a:lnSpc>
                <a:spcPct val="133000"/>
              </a:lnSpc>
              <a:buNone/>
            </a:pPr>
            <a:r>
              <a:rPr lang="en-US" sz="1300" i="1" dirty="0">
                <a:solidFill>
                  <a:srgbClr val="333333"/>
                </a:solidFill>
                <a:latin typeface="Inter" pitchFamily="34" charset="0"/>
                <a:ea typeface="Inter" pitchFamily="34" charset="-122"/>
                <a:cs typeface="Inter" pitchFamily="34" charset="-120"/>
              </a:rPr>
              <a:t>"I am unable to move customer furniture, but if the area can be made accessible I will be happy to continue."</a:t>
            </a:r>
            <a:r>
              <a:rPr lang="en-US" sz="1300" dirty="0">
                <a:solidFill>
                  <a:srgbClr val="333333"/>
                </a:solidFill>
                <a:latin typeface="Inter" pitchFamily="34" charset="0"/>
                <a:ea typeface="Inter" pitchFamily="34" charset="-122"/>
                <a:cs typeface="Inter" pitchFamily="34" charset="-120"/>
              </a:rPr>
              <a:t> Always close with what </a:t>
            </a:r>
            <a:r>
              <a:rPr lang="en-US" sz="1300" b="1" dirty="0">
                <a:solidFill>
                  <a:srgbClr val="333333"/>
                </a:solidFill>
                <a:latin typeface="Inter Bold" pitchFamily="34" charset="0"/>
                <a:ea typeface="Inter Bold" pitchFamily="34" charset="-122"/>
                <a:cs typeface="Inter Bold" pitchFamily="34" charset="-120"/>
              </a:rPr>
              <a:t>can</a:t>
            </a:r>
            <a:r>
              <a:rPr lang="en-US" sz="1300" dirty="0">
                <a:solidFill>
                  <a:srgbClr val="333333"/>
                </a:solidFill>
                <a:latin typeface="Inter" pitchFamily="34" charset="0"/>
                <a:ea typeface="Inter" pitchFamily="34" charset="-122"/>
                <a:cs typeface="Inter" pitchFamily="34" charset="-120"/>
              </a:rPr>
              <a:t> happen next.</a:t>
            </a:r>
            <a:endParaRPr lang="en-US" sz="1300" dirty="0"/>
          </a:p>
        </p:txBody>
      </p:sp>
      <p:pic>
        <p:nvPicPr>
          <p:cNvPr id="14" name="RRTA corner logo" descr="Rapid Response Training Academy logo">
            <a:extLst>
              <a:ext uri="{FF2B5EF4-FFF2-40B4-BE49-F238E27FC236}">
                <a16:creationId xmlns:a16="http://schemas.microsoft.com/office/drawing/2014/main" id="{18F8704D-6EF7-6DB1-F114-4A5486D9F32B}"/>
              </a:ext>
            </a:extLst>
          </p:cNvPr>
          <p:cNvPicPr>
            <a:picLocks noChangeAspect="1"/>
          </p:cNvPicPr>
          <p:nvPr/>
        </p:nvPicPr>
        <p:blipFill>
          <a:blip r:embed="rId4">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1545729"/>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PROTECT – Treat It Like Your Own Home</a:t>
            </a:r>
            <a:endParaRPr lang="en-US" sz="3250" dirty="0"/>
          </a:p>
        </p:txBody>
      </p:sp>
      <p:sp>
        <p:nvSpPr>
          <p:cNvPr id="3" name="Text 1"/>
          <p:cNvSpPr/>
          <p:nvPr/>
        </p:nvSpPr>
        <p:spPr>
          <a:xfrm>
            <a:off x="661475" y="2393156"/>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The customer is allowing you into their home. Everything in that property has value — practical and personal. Treating the customer's home with the same respect you would want for your own is not optional; it is a professional standard.</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108424"/>
            <a:ext cx="413434" cy="413445"/>
          </a:xfrm>
          <a:prstGeom prst="rect">
            <a:avLst/>
          </a:prstGeom>
        </p:spPr>
      </p:pic>
      <p:sp>
        <p:nvSpPr>
          <p:cNvPr id="5" name="Text 2"/>
          <p:cNvSpPr/>
          <p:nvPr/>
        </p:nvSpPr>
        <p:spPr>
          <a:xfrm>
            <a:off x="1281577" y="3108424"/>
            <a:ext cx="2864969"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Record Existing Damage</a:t>
            </a:r>
            <a:endParaRPr lang="en-US" sz="1600" dirty="0"/>
          </a:p>
        </p:txBody>
      </p:sp>
      <p:sp>
        <p:nvSpPr>
          <p:cNvPr id="6" name="Text 3"/>
          <p:cNvSpPr/>
          <p:nvPr/>
        </p:nvSpPr>
        <p:spPr>
          <a:xfrm>
            <a:off x="1281577" y="3466108"/>
            <a:ext cx="2864969"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Photograph any pre-existing defects near your work area before starting. This protects both you and the customer from later disputes about cause.</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53213" y="3108424"/>
            <a:ext cx="413434" cy="413445"/>
          </a:xfrm>
          <a:prstGeom prst="rect">
            <a:avLst/>
          </a:prstGeom>
        </p:spPr>
      </p:pic>
      <p:sp>
        <p:nvSpPr>
          <p:cNvPr id="8" name="Text 4"/>
          <p:cNvSpPr/>
          <p:nvPr/>
        </p:nvSpPr>
        <p:spPr>
          <a:xfrm>
            <a:off x="4973315" y="3108424"/>
            <a:ext cx="2865068"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Protect Floors &amp; Belongings</a:t>
            </a:r>
            <a:endParaRPr lang="en-US" sz="1600" dirty="0"/>
          </a:p>
        </p:txBody>
      </p:sp>
      <p:sp>
        <p:nvSpPr>
          <p:cNvPr id="9" name="Text 5"/>
          <p:cNvSpPr/>
          <p:nvPr/>
        </p:nvSpPr>
        <p:spPr>
          <a:xfrm>
            <a:off x="4973315" y="3466108"/>
            <a:ext cx="2865068"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Use dust sheets, cable covers, and appropriate protection. Move or cover items at risk from drilling, cutting, or cable pulling.</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5050" y="3108424"/>
            <a:ext cx="413434" cy="413445"/>
          </a:xfrm>
          <a:prstGeom prst="rect">
            <a:avLst/>
          </a:prstGeom>
        </p:spPr>
      </p:pic>
      <p:sp>
        <p:nvSpPr>
          <p:cNvPr id="11" name="Text 6"/>
          <p:cNvSpPr/>
          <p:nvPr/>
        </p:nvSpPr>
        <p:spPr>
          <a:xfrm>
            <a:off x="8665152" y="3108424"/>
            <a:ext cx="2865068"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Handle Personal Information Correctly</a:t>
            </a:r>
            <a:endParaRPr lang="en-US" sz="1600" dirty="0"/>
          </a:p>
        </p:txBody>
      </p:sp>
      <p:sp>
        <p:nvSpPr>
          <p:cNvPr id="12" name="Text 7"/>
          <p:cNvSpPr/>
          <p:nvPr/>
        </p:nvSpPr>
        <p:spPr>
          <a:xfrm>
            <a:off x="8665152" y="3724573"/>
            <a:ext cx="2865068" cy="1587698"/>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Treat passwords, Wi-Fi codes, account details, and any personal information you encounter with strict confidentiality. Never share or note down customer data outside of authorised systems.</a:t>
            </a:r>
            <a:endParaRPr lang="en-US" sz="1300" dirty="0"/>
          </a:p>
        </p:txBody>
      </p:sp>
      <p:pic>
        <p:nvPicPr>
          <p:cNvPr id="14" name="RRTA corner logo" descr="Rapid Response Training Academy logo">
            <a:extLst>
              <a:ext uri="{FF2B5EF4-FFF2-40B4-BE49-F238E27FC236}">
                <a16:creationId xmlns:a16="http://schemas.microsoft.com/office/drawing/2014/main" id="{BC58A4B8-24EF-3799-03CC-9D93577FA303}"/>
              </a:ext>
            </a:extLst>
          </p:cNvPr>
          <p:cNvPicPr>
            <a:picLocks noChangeAspect="1"/>
          </p:cNvPicPr>
          <p:nvPr/>
        </p:nvPicPr>
        <p:blipFill>
          <a:blip r:embed="rId6">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1091902"/>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Scenario – That Crack Was Already There</a:t>
            </a:r>
            <a:endParaRPr lang="en-US" sz="3250" dirty="0"/>
          </a:p>
        </p:txBody>
      </p:sp>
      <p:sp>
        <p:nvSpPr>
          <p:cNvPr id="3" name="Text 1"/>
          <p:cNvSpPr/>
          <p:nvPr/>
        </p:nvSpPr>
        <p:spPr>
          <a:xfrm>
            <a:off x="909516" y="2125365"/>
            <a:ext cx="1062070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Existing wall damage is directly beside the proposed drilling location. The customer says: </a:t>
            </a:r>
            <a:r>
              <a:rPr lang="en-US" sz="1300" i="1" dirty="0">
                <a:solidFill>
                  <a:srgbClr val="333333"/>
                </a:solidFill>
                <a:latin typeface="Inter" pitchFamily="34" charset="0"/>
                <a:ea typeface="Inter" pitchFamily="34" charset="-122"/>
                <a:cs typeface="Inter" pitchFamily="34" charset="-120"/>
              </a:rPr>
              <a:t>"It is fine — just drill it."</a:t>
            </a:r>
            <a:r>
              <a:rPr lang="en-US" sz="1300" dirty="0">
                <a:solidFill>
                  <a:srgbClr val="333333"/>
                </a:solidFill>
                <a:latin typeface="Inter" pitchFamily="34" charset="0"/>
                <a:ea typeface="Inter" pitchFamily="34" charset="-122"/>
                <a:cs typeface="Inter" pitchFamily="34" charset="-120"/>
              </a:rPr>
              <a:t> The engineer has not yet started work.</a:t>
            </a:r>
            <a:endParaRPr lang="en-US" sz="1300" dirty="0"/>
          </a:p>
        </p:txBody>
      </p:sp>
      <p:sp>
        <p:nvSpPr>
          <p:cNvPr id="4" name="Shape 2"/>
          <p:cNvSpPr/>
          <p:nvPr/>
        </p:nvSpPr>
        <p:spPr>
          <a:xfrm>
            <a:off x="661475" y="1939330"/>
            <a:ext cx="19050" cy="901303"/>
          </a:xfrm>
          <a:prstGeom prst="roundRect">
            <a:avLst>
              <a:gd name="adj" fmla="val 49999"/>
            </a:avLst>
          </a:prstGeom>
          <a:solidFill>
            <a:srgbClr val="8B0B0D"/>
          </a:solidFill>
          <a:ln/>
        </p:spPr>
        <p:txBody>
          <a:bodyPr/>
          <a:lstStyle/>
          <a:p>
            <a:endParaRPr lang="en-GB"/>
          </a:p>
        </p:txBody>
      </p:sp>
      <p:sp>
        <p:nvSpPr>
          <p:cNvPr id="5" name="Text 3"/>
          <p:cNvSpPr/>
          <p:nvPr/>
        </p:nvSpPr>
        <p:spPr>
          <a:xfrm>
            <a:off x="661475" y="3026668"/>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This scenario is about protecting yourself as much as the customer. If you drill without recording the pre-existing damage, you have no evidence that the crack was there before you started — and a complaint is very difficult to defend.</a:t>
            </a:r>
            <a:endParaRPr lang="en-US" sz="1300" dirty="0"/>
          </a:p>
        </p:txBody>
      </p:sp>
      <p:sp>
        <p:nvSpPr>
          <p:cNvPr id="6" name="Shape 4"/>
          <p:cNvSpPr/>
          <p:nvPr/>
        </p:nvSpPr>
        <p:spPr>
          <a:xfrm>
            <a:off x="661475" y="3741936"/>
            <a:ext cx="10868745" cy="2024063"/>
          </a:xfrm>
          <a:prstGeom prst="roundRect">
            <a:avLst>
              <a:gd name="adj" fmla="val 12257"/>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7" name="Shape 5"/>
          <p:cNvSpPr/>
          <p:nvPr/>
        </p:nvSpPr>
        <p:spPr>
          <a:xfrm>
            <a:off x="667825" y="3748286"/>
            <a:ext cx="3618616" cy="2011362"/>
          </a:xfrm>
          <a:custGeom>
            <a:avLst/>
            <a:gdLst/>
            <a:ahLst/>
            <a:cxnLst/>
            <a:rect l="l" t="t" r="r" b="b"/>
            <a:pathLst>
              <a:path w="3618616" h="2011362">
                <a:moveTo>
                  <a:pt x="206739" y="0"/>
                </a:moveTo>
                <a:lnTo>
                  <a:pt x="3618616" y="0"/>
                </a:lnTo>
                <a:lnTo>
                  <a:pt x="3618616" y="2011362"/>
                </a:lnTo>
                <a:lnTo>
                  <a:pt x="206739" y="2011362"/>
                </a:lnTo>
                <a:arcTo wR="206739" hR="206744" stAng="5400000" swAng="5400000"/>
                <a:lnTo>
                  <a:pt x="0" y="206744"/>
                </a:lnTo>
                <a:arcTo wR="206739" hR="206744" stAng="10800000" swAng="5400000"/>
                <a:close/>
              </a:path>
            </a:pathLst>
          </a:custGeom>
          <a:solidFill>
            <a:srgbClr val="EAE2E2"/>
          </a:solidFill>
          <a:ln/>
        </p:spPr>
        <p:txBody>
          <a:bodyPr/>
          <a:lstStyle/>
          <a:p>
            <a:endParaRPr lang="en-GB"/>
          </a:p>
        </p:txBody>
      </p:sp>
      <p:sp>
        <p:nvSpPr>
          <p:cNvPr id="8" name="Text 6"/>
          <p:cNvSpPr/>
          <p:nvPr/>
        </p:nvSpPr>
        <p:spPr>
          <a:xfrm>
            <a:off x="833119" y="3913584"/>
            <a:ext cx="32880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What Do You Do?</a:t>
            </a:r>
            <a:endParaRPr lang="en-US" sz="1600" dirty="0"/>
          </a:p>
        </p:txBody>
      </p:sp>
      <p:sp>
        <p:nvSpPr>
          <p:cNvPr id="9" name="Text 7"/>
          <p:cNvSpPr/>
          <p:nvPr/>
        </p:nvSpPr>
        <p:spPr>
          <a:xfrm>
            <a:off x="833119" y="4271268"/>
            <a:ext cx="3288027"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Photograph the damage clearly before starting work. Make the customer aware that you are recording the pre-existing defect and explain why.</a:t>
            </a:r>
            <a:endParaRPr lang="en-US" sz="1300" dirty="0"/>
          </a:p>
        </p:txBody>
      </p:sp>
      <p:sp>
        <p:nvSpPr>
          <p:cNvPr id="10" name="Shape 8"/>
          <p:cNvSpPr/>
          <p:nvPr/>
        </p:nvSpPr>
        <p:spPr>
          <a:xfrm>
            <a:off x="4286440" y="3748286"/>
            <a:ext cx="3618715" cy="2011362"/>
          </a:xfrm>
          <a:prstGeom prst="rect">
            <a:avLst/>
          </a:prstGeom>
          <a:solidFill>
            <a:srgbClr val="EAE2E2"/>
          </a:solidFill>
          <a:ln/>
        </p:spPr>
        <p:txBody>
          <a:bodyPr/>
          <a:lstStyle/>
          <a:p>
            <a:endParaRPr lang="en-GB"/>
          </a:p>
        </p:txBody>
      </p:sp>
      <p:sp>
        <p:nvSpPr>
          <p:cNvPr id="11" name="Shape 9"/>
          <p:cNvSpPr/>
          <p:nvPr/>
        </p:nvSpPr>
        <p:spPr>
          <a:xfrm>
            <a:off x="4286440" y="3748286"/>
            <a:ext cx="19050" cy="2011362"/>
          </a:xfrm>
          <a:prstGeom prst="roundRect">
            <a:avLst>
              <a:gd name="adj" fmla="val 49999"/>
            </a:avLst>
          </a:prstGeom>
          <a:solidFill>
            <a:srgbClr val="D0C8C8"/>
          </a:solidFill>
          <a:ln/>
        </p:spPr>
        <p:txBody>
          <a:bodyPr/>
          <a:lstStyle/>
          <a:p>
            <a:endParaRPr lang="en-GB"/>
          </a:p>
        </p:txBody>
      </p:sp>
      <p:sp>
        <p:nvSpPr>
          <p:cNvPr id="12" name="Text 10"/>
          <p:cNvSpPr/>
          <p:nvPr/>
        </p:nvSpPr>
        <p:spPr>
          <a:xfrm>
            <a:off x="4451735" y="3913584"/>
            <a:ext cx="3288126"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What Do You Say?</a:t>
            </a:r>
            <a:endParaRPr lang="en-US" sz="1600" dirty="0"/>
          </a:p>
        </p:txBody>
      </p:sp>
      <p:sp>
        <p:nvSpPr>
          <p:cNvPr id="13" name="Text 11"/>
          <p:cNvSpPr/>
          <p:nvPr/>
        </p:nvSpPr>
        <p:spPr>
          <a:xfrm>
            <a:off x="4451735" y="4271268"/>
            <a:ext cx="3288126" cy="1058466"/>
          </a:xfrm>
          <a:prstGeom prst="rect">
            <a:avLst/>
          </a:prstGeom>
          <a:noFill/>
          <a:ln/>
        </p:spPr>
        <p:txBody>
          <a:bodyPr wrap="square" lIns="0" tIns="0" rIns="0" bIns="0" rtlCol="0" anchor="t">
            <a:normAutofit/>
          </a:bodyPr>
          <a:lstStyle/>
          <a:p>
            <a:pPr marL="0" indent="0" algn="l">
              <a:lnSpc>
                <a:spcPct val="133000"/>
              </a:lnSpc>
              <a:buNone/>
            </a:pPr>
            <a:r>
              <a:rPr lang="en-US" sz="1300" i="1" dirty="0">
                <a:solidFill>
                  <a:srgbClr val="333333"/>
                </a:solidFill>
                <a:latin typeface="Inter" pitchFamily="34" charset="0"/>
                <a:ea typeface="Inter" pitchFamily="34" charset="-122"/>
                <a:cs typeface="Inter" pitchFamily="34" charset="-120"/>
              </a:rPr>
              <a:t>"Before I start, I need to photograph this existing damage so that both of us have a clear record. I just want to make sure we are both protected."</a:t>
            </a:r>
            <a:endParaRPr lang="en-US" sz="1300" dirty="0"/>
          </a:p>
        </p:txBody>
      </p:sp>
      <p:sp>
        <p:nvSpPr>
          <p:cNvPr id="14" name="Shape 12"/>
          <p:cNvSpPr/>
          <p:nvPr/>
        </p:nvSpPr>
        <p:spPr>
          <a:xfrm>
            <a:off x="7905155" y="3748286"/>
            <a:ext cx="3618715" cy="2011362"/>
          </a:xfrm>
          <a:custGeom>
            <a:avLst/>
            <a:gdLst/>
            <a:ahLst/>
            <a:cxnLst/>
            <a:rect l="l" t="t" r="r" b="b"/>
            <a:pathLst>
              <a:path w="3618715" h="2011362">
                <a:moveTo>
                  <a:pt x="0" y="0"/>
                </a:moveTo>
                <a:lnTo>
                  <a:pt x="3411976" y="0"/>
                </a:lnTo>
                <a:arcTo wR="206739" hR="206744" stAng="16200000" swAng="5400000"/>
                <a:lnTo>
                  <a:pt x="3618715" y="1804619"/>
                </a:lnTo>
                <a:arcTo wR="206739" hR="206744" stAng="0" swAng="5400000"/>
                <a:lnTo>
                  <a:pt x="0" y="2011362"/>
                </a:lnTo>
                <a:lnTo>
                  <a:pt x="0" y="0"/>
                </a:lnTo>
                <a:close/>
              </a:path>
            </a:pathLst>
          </a:custGeom>
          <a:solidFill>
            <a:srgbClr val="EAE2E2"/>
          </a:solidFill>
          <a:ln/>
        </p:spPr>
        <p:txBody>
          <a:bodyPr/>
          <a:lstStyle/>
          <a:p>
            <a:endParaRPr lang="en-GB"/>
          </a:p>
        </p:txBody>
      </p:sp>
      <p:sp>
        <p:nvSpPr>
          <p:cNvPr id="15" name="Shape 13"/>
          <p:cNvSpPr/>
          <p:nvPr/>
        </p:nvSpPr>
        <p:spPr>
          <a:xfrm>
            <a:off x="7905155" y="3748286"/>
            <a:ext cx="19050" cy="2011362"/>
          </a:xfrm>
          <a:prstGeom prst="roundRect">
            <a:avLst>
              <a:gd name="adj" fmla="val 49999"/>
            </a:avLst>
          </a:prstGeom>
          <a:solidFill>
            <a:srgbClr val="D0C8C8"/>
          </a:solidFill>
          <a:ln/>
        </p:spPr>
        <p:txBody>
          <a:bodyPr/>
          <a:lstStyle/>
          <a:p>
            <a:endParaRPr lang="en-GB"/>
          </a:p>
        </p:txBody>
      </p:sp>
      <p:sp>
        <p:nvSpPr>
          <p:cNvPr id="16" name="Text 14"/>
          <p:cNvSpPr/>
          <p:nvPr/>
        </p:nvSpPr>
        <p:spPr>
          <a:xfrm>
            <a:off x="8070450" y="3913584"/>
            <a:ext cx="3288126"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Continue / Stop / Escalate?</a:t>
            </a:r>
            <a:endParaRPr lang="en-US" sz="1600" dirty="0"/>
          </a:p>
        </p:txBody>
      </p:sp>
      <p:sp>
        <p:nvSpPr>
          <p:cNvPr id="17" name="Text 15"/>
          <p:cNvSpPr/>
          <p:nvPr/>
        </p:nvSpPr>
        <p:spPr>
          <a:xfrm>
            <a:off x="8070450" y="4271268"/>
            <a:ext cx="3288126" cy="1323082"/>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33333"/>
                </a:solidFill>
                <a:latin typeface="Inter Bold" pitchFamily="34" charset="0"/>
                <a:ea typeface="Inter Bold" pitchFamily="34" charset="-122"/>
                <a:cs typeface="Inter Bold" pitchFamily="34" charset="-120"/>
              </a:rPr>
              <a:t>Continue</a:t>
            </a:r>
            <a:r>
              <a:rPr lang="en-US" sz="1300" dirty="0">
                <a:solidFill>
                  <a:srgbClr val="333333"/>
                </a:solidFill>
                <a:latin typeface="Inter" pitchFamily="34" charset="0"/>
                <a:ea typeface="Inter" pitchFamily="34" charset="-122"/>
                <a:cs typeface="Inter" pitchFamily="34" charset="-120"/>
              </a:rPr>
              <a:t> — but only after recording the defect, gaining the customer's verbal agreement, and documenting it in your job record. Do not skip this step even under time pressure.</a:t>
            </a:r>
            <a:endParaRPr lang="en-US" sz="1300" dirty="0"/>
          </a:p>
        </p:txBody>
      </p:sp>
      <p:pic>
        <p:nvPicPr>
          <p:cNvPr id="19" name="RRTA corner logo" descr="Rapid Response Training Academy logo">
            <a:extLst>
              <a:ext uri="{FF2B5EF4-FFF2-40B4-BE49-F238E27FC236}">
                <a16:creationId xmlns:a16="http://schemas.microsoft.com/office/drawing/2014/main" id="{0B6BBD39-7718-CA73-B5BD-33F371AD8913}"/>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475" y="91241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COMMUNICATE – Don't Disappear Into the Job</a:t>
            </a:r>
            <a:endParaRPr lang="en-US" sz="3250" dirty="0"/>
          </a:p>
        </p:txBody>
      </p:sp>
      <p:sp>
        <p:nvSpPr>
          <p:cNvPr id="3" name="Text 1"/>
          <p:cNvSpPr/>
          <p:nvPr/>
        </p:nvSpPr>
        <p:spPr>
          <a:xfrm>
            <a:off x="661475" y="1759843"/>
            <a:ext cx="10868745"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Once work starts, it is easy to focus entirely on the technical task and lose sight of the customer. But customers who feel ignored or uninformed become anxious — and anxiety turns quickly into complaints. Proactive communication prevents the vast majority of escalations.</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739727"/>
            <a:ext cx="5351725" cy="1520230"/>
          </a:xfrm>
          <a:prstGeom prst="rect">
            <a:avLst/>
          </a:prstGeom>
        </p:spPr>
      </p:pic>
      <p:sp>
        <p:nvSpPr>
          <p:cNvPr id="5" name="Text 2"/>
          <p:cNvSpPr/>
          <p:nvPr/>
        </p:nvSpPr>
        <p:spPr>
          <a:xfrm>
            <a:off x="922017" y="2924076"/>
            <a:ext cx="490684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Keep the Customer Informed</a:t>
            </a:r>
            <a:endParaRPr lang="en-US" sz="1600" dirty="0"/>
          </a:p>
        </p:txBody>
      </p:sp>
      <p:sp>
        <p:nvSpPr>
          <p:cNvPr id="6" name="Text 3"/>
          <p:cNvSpPr/>
          <p:nvPr/>
        </p:nvSpPr>
        <p:spPr>
          <a:xfrm>
            <a:off x="922017" y="3281759"/>
            <a:ext cx="490684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Give brief, regular updates on progress. The customer does not need a technical commentary, just reassurance that everything is going to plan.</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2739727"/>
            <a:ext cx="5351725" cy="1520230"/>
          </a:xfrm>
          <a:prstGeom prst="rect">
            <a:avLst/>
          </a:prstGeom>
        </p:spPr>
      </p:pic>
      <p:sp>
        <p:nvSpPr>
          <p:cNvPr id="8" name="Text 4"/>
          <p:cNvSpPr/>
          <p:nvPr/>
        </p:nvSpPr>
        <p:spPr>
          <a:xfrm>
            <a:off x="6439037" y="2924076"/>
            <a:ext cx="490684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Explain Delays and Problems Early</a:t>
            </a:r>
            <a:endParaRPr lang="en-US" sz="1600" dirty="0"/>
          </a:p>
        </p:txBody>
      </p:sp>
      <p:sp>
        <p:nvSpPr>
          <p:cNvPr id="9" name="Text 5"/>
          <p:cNvSpPr/>
          <p:nvPr/>
        </p:nvSpPr>
        <p:spPr>
          <a:xfrm>
            <a:off x="6439037" y="3281759"/>
            <a:ext cx="490684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Never wait until the end of a job to tell the customer there is an issue. Bad news communicated early is far easier to manage than a surprise at the point of completion.</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425255"/>
            <a:ext cx="5351725" cy="1520230"/>
          </a:xfrm>
          <a:prstGeom prst="rect">
            <a:avLst/>
          </a:prstGeom>
        </p:spPr>
      </p:pic>
      <p:sp>
        <p:nvSpPr>
          <p:cNvPr id="11" name="Text 6"/>
          <p:cNvSpPr/>
          <p:nvPr/>
        </p:nvSpPr>
        <p:spPr>
          <a:xfrm>
            <a:off x="922017" y="4609604"/>
            <a:ext cx="490684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Re-Agree Any Changes</a:t>
            </a:r>
            <a:endParaRPr lang="en-US" sz="1600" dirty="0"/>
          </a:p>
        </p:txBody>
      </p:sp>
      <p:sp>
        <p:nvSpPr>
          <p:cNvPr id="12" name="Text 7"/>
          <p:cNvSpPr/>
          <p:nvPr/>
        </p:nvSpPr>
        <p:spPr>
          <a:xfrm>
            <a:off x="922017" y="4967288"/>
            <a:ext cx="490684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If the plan needs to change, for any reason, stop, explain the situation, and gain fresh agreement before proceeding. Unauthorised changes are a leading cause of complaints.</a:t>
            </a:r>
            <a:endParaRPr lang="en-US" sz="13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4425255"/>
            <a:ext cx="5351725" cy="1520230"/>
          </a:xfrm>
          <a:prstGeom prst="rect">
            <a:avLst/>
          </a:prstGeom>
        </p:spPr>
      </p:pic>
      <p:sp>
        <p:nvSpPr>
          <p:cNvPr id="14" name="Text 8"/>
          <p:cNvSpPr/>
          <p:nvPr/>
        </p:nvSpPr>
        <p:spPr>
          <a:xfrm>
            <a:off x="6439037" y="4609604"/>
            <a:ext cx="4906840"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Never Over-Promise</a:t>
            </a:r>
            <a:endParaRPr lang="en-US" sz="1600" dirty="0"/>
          </a:p>
        </p:txBody>
      </p:sp>
      <p:sp>
        <p:nvSpPr>
          <p:cNvPr id="15" name="Text 9"/>
          <p:cNvSpPr/>
          <p:nvPr/>
        </p:nvSpPr>
        <p:spPr>
          <a:xfrm>
            <a:off x="6439037" y="4967288"/>
            <a:ext cx="490684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Only commit to what you can deliver. A promise you cannot keep causes more damage than an honest explanation of a limitation.</a:t>
            </a:r>
            <a:endParaRPr lang="en-US" sz="1300" dirty="0"/>
          </a:p>
        </p:txBody>
      </p:sp>
      <p:pic>
        <p:nvPicPr>
          <p:cNvPr id="17" name="RRTA corner logo" descr="Rapid Response Training Academy logo">
            <a:extLst>
              <a:ext uri="{FF2B5EF4-FFF2-40B4-BE49-F238E27FC236}">
                <a16:creationId xmlns:a16="http://schemas.microsoft.com/office/drawing/2014/main" id="{003DFD31-91C1-C77F-0234-4EF3DC6DE73C}"/>
              </a:ext>
            </a:extLst>
          </p:cNvPr>
          <p:cNvPicPr>
            <a:picLocks noChangeAspect="1"/>
          </p:cNvPicPr>
          <p:nvPr/>
        </p:nvPicPr>
        <p:blipFill>
          <a:blip r:embed="rId4">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475" y="1091902"/>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Scenario – The Route Has Changed</a:t>
            </a:r>
            <a:endParaRPr lang="en-US" sz="3250" dirty="0"/>
          </a:p>
        </p:txBody>
      </p:sp>
      <p:sp>
        <p:nvSpPr>
          <p:cNvPr id="3" name="Text 1"/>
          <p:cNvSpPr/>
          <p:nvPr/>
        </p:nvSpPr>
        <p:spPr>
          <a:xfrm>
            <a:off x="909516" y="2125365"/>
            <a:ext cx="1062070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The cable route was agreed before work started. Halfway through the installation, the customer changes their mind and requests a completely different route.</a:t>
            </a:r>
            <a:endParaRPr lang="en-US" sz="1300" dirty="0"/>
          </a:p>
        </p:txBody>
      </p:sp>
      <p:sp>
        <p:nvSpPr>
          <p:cNvPr id="4" name="Shape 2"/>
          <p:cNvSpPr/>
          <p:nvPr/>
        </p:nvSpPr>
        <p:spPr>
          <a:xfrm>
            <a:off x="661475" y="1939330"/>
            <a:ext cx="19050" cy="901303"/>
          </a:xfrm>
          <a:prstGeom prst="roundRect">
            <a:avLst>
              <a:gd name="adj" fmla="val 49999"/>
            </a:avLst>
          </a:prstGeom>
          <a:solidFill>
            <a:srgbClr val="8B0B0D"/>
          </a:solidFill>
          <a:ln/>
        </p:spPr>
        <p:txBody>
          <a:bodyPr/>
          <a:lstStyle/>
          <a:p>
            <a:endParaRPr lang="en-GB"/>
          </a:p>
        </p:txBody>
      </p:sp>
      <p:sp>
        <p:nvSpPr>
          <p:cNvPr id="5" name="Text 3"/>
          <p:cNvSpPr/>
          <p:nvPr/>
        </p:nvSpPr>
        <p:spPr>
          <a:xfrm>
            <a:off x="661475" y="3026668"/>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Mid-job changes are one of the most common sources of conflict. The customer may feel it is a small request — but for the engineer it means stopping, assessing feasibility, and obtaining authorisation before proceeding.</a:t>
            </a:r>
            <a:endParaRPr lang="en-US" sz="1300" dirty="0"/>
          </a:p>
        </p:txBody>
      </p:sp>
      <p:sp>
        <p:nvSpPr>
          <p:cNvPr id="6" name="Shape 4"/>
          <p:cNvSpPr/>
          <p:nvPr/>
        </p:nvSpPr>
        <p:spPr>
          <a:xfrm>
            <a:off x="661475" y="3741936"/>
            <a:ext cx="10868745" cy="2024063"/>
          </a:xfrm>
          <a:prstGeom prst="roundRect">
            <a:avLst>
              <a:gd name="adj" fmla="val 12257"/>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7" name="Shape 5"/>
          <p:cNvSpPr/>
          <p:nvPr/>
        </p:nvSpPr>
        <p:spPr>
          <a:xfrm>
            <a:off x="667825" y="3748286"/>
            <a:ext cx="3618616" cy="2011362"/>
          </a:xfrm>
          <a:custGeom>
            <a:avLst/>
            <a:gdLst/>
            <a:ahLst/>
            <a:cxnLst/>
            <a:rect l="l" t="t" r="r" b="b"/>
            <a:pathLst>
              <a:path w="3618616" h="2011362">
                <a:moveTo>
                  <a:pt x="206739" y="0"/>
                </a:moveTo>
                <a:lnTo>
                  <a:pt x="3618616" y="0"/>
                </a:lnTo>
                <a:lnTo>
                  <a:pt x="3618616" y="2011362"/>
                </a:lnTo>
                <a:lnTo>
                  <a:pt x="206739" y="2011362"/>
                </a:lnTo>
                <a:arcTo wR="206739" hR="206744" stAng="5400000" swAng="5400000"/>
                <a:lnTo>
                  <a:pt x="0" y="206744"/>
                </a:lnTo>
                <a:arcTo wR="206739" hR="206744" stAng="10800000" swAng="5400000"/>
                <a:close/>
              </a:path>
            </a:pathLst>
          </a:custGeom>
          <a:solidFill>
            <a:srgbClr val="EAE2E2"/>
          </a:solidFill>
          <a:ln/>
        </p:spPr>
        <p:txBody>
          <a:bodyPr/>
          <a:lstStyle/>
          <a:p>
            <a:endParaRPr lang="en-GB"/>
          </a:p>
        </p:txBody>
      </p:sp>
      <p:sp>
        <p:nvSpPr>
          <p:cNvPr id="8" name="Text 6"/>
          <p:cNvSpPr/>
          <p:nvPr/>
        </p:nvSpPr>
        <p:spPr>
          <a:xfrm>
            <a:off x="833119" y="3913584"/>
            <a:ext cx="32880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What Do You Do?</a:t>
            </a:r>
            <a:endParaRPr lang="en-US" sz="1600" dirty="0"/>
          </a:p>
        </p:txBody>
      </p:sp>
      <p:sp>
        <p:nvSpPr>
          <p:cNvPr id="9" name="Text 7"/>
          <p:cNvSpPr/>
          <p:nvPr/>
        </p:nvSpPr>
        <p:spPr>
          <a:xfrm>
            <a:off x="833119" y="4271268"/>
            <a:ext cx="3288027"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Stop work on the current route. Assess whether the new route is technically feasible and within scope. Do not begin the new route without authorisation.</a:t>
            </a:r>
            <a:endParaRPr lang="en-US" sz="1300" dirty="0"/>
          </a:p>
        </p:txBody>
      </p:sp>
      <p:sp>
        <p:nvSpPr>
          <p:cNvPr id="10" name="Shape 8"/>
          <p:cNvSpPr/>
          <p:nvPr/>
        </p:nvSpPr>
        <p:spPr>
          <a:xfrm>
            <a:off x="4286440" y="3748286"/>
            <a:ext cx="3618715" cy="2011362"/>
          </a:xfrm>
          <a:prstGeom prst="rect">
            <a:avLst/>
          </a:prstGeom>
          <a:solidFill>
            <a:srgbClr val="EAE2E2"/>
          </a:solidFill>
          <a:ln/>
        </p:spPr>
        <p:txBody>
          <a:bodyPr/>
          <a:lstStyle/>
          <a:p>
            <a:endParaRPr lang="en-GB"/>
          </a:p>
        </p:txBody>
      </p:sp>
      <p:sp>
        <p:nvSpPr>
          <p:cNvPr id="11" name="Shape 9"/>
          <p:cNvSpPr/>
          <p:nvPr/>
        </p:nvSpPr>
        <p:spPr>
          <a:xfrm>
            <a:off x="4286440" y="3748286"/>
            <a:ext cx="19050" cy="2011362"/>
          </a:xfrm>
          <a:prstGeom prst="roundRect">
            <a:avLst>
              <a:gd name="adj" fmla="val 49999"/>
            </a:avLst>
          </a:prstGeom>
          <a:solidFill>
            <a:srgbClr val="D0C8C8"/>
          </a:solidFill>
          <a:ln/>
        </p:spPr>
        <p:txBody>
          <a:bodyPr/>
          <a:lstStyle/>
          <a:p>
            <a:endParaRPr lang="en-GB"/>
          </a:p>
        </p:txBody>
      </p:sp>
      <p:sp>
        <p:nvSpPr>
          <p:cNvPr id="12" name="Text 10"/>
          <p:cNvSpPr/>
          <p:nvPr/>
        </p:nvSpPr>
        <p:spPr>
          <a:xfrm>
            <a:off x="4451735" y="3913584"/>
            <a:ext cx="3288126"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What Do You Say?</a:t>
            </a:r>
            <a:endParaRPr lang="en-US" sz="1600" dirty="0"/>
          </a:p>
        </p:txBody>
      </p:sp>
      <p:sp>
        <p:nvSpPr>
          <p:cNvPr id="13" name="Text 11"/>
          <p:cNvSpPr/>
          <p:nvPr/>
        </p:nvSpPr>
        <p:spPr>
          <a:xfrm>
            <a:off x="4451735" y="4271268"/>
            <a:ext cx="3288126" cy="1323082"/>
          </a:xfrm>
          <a:prstGeom prst="rect">
            <a:avLst/>
          </a:prstGeom>
          <a:noFill/>
          <a:ln/>
        </p:spPr>
        <p:txBody>
          <a:bodyPr wrap="square" lIns="0" tIns="0" rIns="0" bIns="0" rtlCol="0" anchor="t">
            <a:normAutofit/>
          </a:bodyPr>
          <a:lstStyle/>
          <a:p>
            <a:pPr marL="0" indent="0" algn="l">
              <a:lnSpc>
                <a:spcPct val="133000"/>
              </a:lnSpc>
              <a:buNone/>
            </a:pPr>
            <a:r>
              <a:rPr lang="en-US" sz="1300" i="1" dirty="0">
                <a:solidFill>
                  <a:srgbClr val="333333"/>
                </a:solidFill>
                <a:latin typeface="Inter" pitchFamily="34" charset="0"/>
                <a:ea typeface="Inter" pitchFamily="34" charset="-122"/>
                <a:cs typeface="Inter" pitchFamily="34" charset="-120"/>
              </a:rPr>
              <a:t>"I completely understand — let me take a look at the new route and confirm whether it is achievable. I will need to check before I can make any changes to what has been agreed."</a:t>
            </a:r>
            <a:endParaRPr lang="en-US" sz="1300" dirty="0"/>
          </a:p>
        </p:txBody>
      </p:sp>
      <p:sp>
        <p:nvSpPr>
          <p:cNvPr id="14" name="Shape 12"/>
          <p:cNvSpPr/>
          <p:nvPr/>
        </p:nvSpPr>
        <p:spPr>
          <a:xfrm>
            <a:off x="7905155" y="3748286"/>
            <a:ext cx="3618715" cy="2011362"/>
          </a:xfrm>
          <a:custGeom>
            <a:avLst/>
            <a:gdLst/>
            <a:ahLst/>
            <a:cxnLst/>
            <a:rect l="l" t="t" r="r" b="b"/>
            <a:pathLst>
              <a:path w="3618715" h="2011362">
                <a:moveTo>
                  <a:pt x="0" y="0"/>
                </a:moveTo>
                <a:lnTo>
                  <a:pt x="3411976" y="0"/>
                </a:lnTo>
                <a:arcTo wR="206739" hR="206744" stAng="16200000" swAng="5400000"/>
                <a:lnTo>
                  <a:pt x="3618715" y="1804619"/>
                </a:lnTo>
                <a:arcTo wR="206739" hR="206744" stAng="0" swAng="5400000"/>
                <a:lnTo>
                  <a:pt x="0" y="2011362"/>
                </a:lnTo>
                <a:lnTo>
                  <a:pt x="0" y="0"/>
                </a:lnTo>
                <a:close/>
              </a:path>
            </a:pathLst>
          </a:custGeom>
          <a:solidFill>
            <a:srgbClr val="EAE2E2"/>
          </a:solidFill>
          <a:ln/>
        </p:spPr>
        <p:txBody>
          <a:bodyPr/>
          <a:lstStyle/>
          <a:p>
            <a:endParaRPr lang="en-GB"/>
          </a:p>
        </p:txBody>
      </p:sp>
      <p:sp>
        <p:nvSpPr>
          <p:cNvPr id="15" name="Shape 13"/>
          <p:cNvSpPr/>
          <p:nvPr/>
        </p:nvSpPr>
        <p:spPr>
          <a:xfrm>
            <a:off x="7905155" y="3748286"/>
            <a:ext cx="19050" cy="2011362"/>
          </a:xfrm>
          <a:prstGeom prst="roundRect">
            <a:avLst>
              <a:gd name="adj" fmla="val 49999"/>
            </a:avLst>
          </a:prstGeom>
          <a:solidFill>
            <a:srgbClr val="D0C8C8"/>
          </a:solidFill>
          <a:ln/>
        </p:spPr>
        <p:txBody>
          <a:bodyPr/>
          <a:lstStyle/>
          <a:p>
            <a:endParaRPr lang="en-GB"/>
          </a:p>
        </p:txBody>
      </p:sp>
      <p:sp>
        <p:nvSpPr>
          <p:cNvPr id="16" name="Text 14"/>
          <p:cNvSpPr/>
          <p:nvPr/>
        </p:nvSpPr>
        <p:spPr>
          <a:xfrm>
            <a:off x="8070450" y="3913584"/>
            <a:ext cx="3288126"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Continue / Stop / Escalate?</a:t>
            </a:r>
            <a:endParaRPr lang="en-US" sz="1600" dirty="0"/>
          </a:p>
        </p:txBody>
      </p:sp>
      <p:sp>
        <p:nvSpPr>
          <p:cNvPr id="17" name="Text 15"/>
          <p:cNvSpPr/>
          <p:nvPr/>
        </p:nvSpPr>
        <p:spPr>
          <a:xfrm>
            <a:off x="8070450" y="4271268"/>
            <a:ext cx="3288126" cy="1323082"/>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33333"/>
                </a:solidFill>
                <a:latin typeface="Inter Bold" pitchFamily="34" charset="0"/>
                <a:ea typeface="Inter Bold" pitchFamily="34" charset="-122"/>
                <a:cs typeface="Inter Bold" pitchFamily="34" charset="-120"/>
              </a:rPr>
              <a:t>Stop and re-agree.</a:t>
            </a:r>
            <a:r>
              <a:rPr lang="en-US" sz="1300" dirty="0">
                <a:solidFill>
                  <a:srgbClr val="333333"/>
                </a:solidFill>
                <a:latin typeface="Inter" pitchFamily="34" charset="0"/>
                <a:ea typeface="Inter" pitchFamily="34" charset="-122"/>
                <a:cs typeface="Inter" pitchFamily="34" charset="-120"/>
              </a:rPr>
              <a:t> Contact your supervisor if the change is outside your authorisation. Do not make unauthorised modifications simply to satisfy the customer in the moment.</a:t>
            </a:r>
            <a:endParaRPr lang="en-US" sz="1300" dirty="0"/>
          </a:p>
        </p:txBody>
      </p:sp>
      <p:pic>
        <p:nvPicPr>
          <p:cNvPr id="19" name="RRTA corner logo" descr="Rapid Response Training Academy logo">
            <a:extLst>
              <a:ext uri="{FF2B5EF4-FFF2-40B4-BE49-F238E27FC236}">
                <a16:creationId xmlns:a16="http://schemas.microsoft.com/office/drawing/2014/main" id="{BD254C3E-8BD7-569F-5054-E112649F3451}"/>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475" y="1546920"/>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When Customers Become Difficult</a:t>
            </a:r>
            <a:endParaRPr lang="en-US" sz="3250" dirty="0"/>
          </a:p>
        </p:txBody>
      </p:sp>
      <p:sp>
        <p:nvSpPr>
          <p:cNvPr id="3" name="Text 1"/>
          <p:cNvSpPr/>
          <p:nvPr/>
        </p:nvSpPr>
        <p:spPr>
          <a:xfrm>
            <a:off x="661475" y="2394347"/>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Most difficult customer interactions fall into one of two categories: a customer who is upset and frustrated, or a customer who poses a genuine personal-safety risk. Distinguishing between the two is critical — the response to each is very different.</a:t>
            </a:r>
            <a:endParaRPr lang="en-US" sz="1300" dirty="0"/>
          </a:p>
        </p:txBody>
      </p:sp>
      <p:sp>
        <p:nvSpPr>
          <p:cNvPr id="4" name="Shape 2"/>
          <p:cNvSpPr/>
          <p:nvPr/>
        </p:nvSpPr>
        <p:spPr>
          <a:xfrm>
            <a:off x="542415" y="3109615"/>
            <a:ext cx="5470785" cy="2201366"/>
          </a:xfrm>
          <a:prstGeom prst="roundRect">
            <a:avLst>
              <a:gd name="adj" fmla="val 18031"/>
            </a:avLst>
          </a:prstGeom>
          <a:solidFill>
            <a:srgbClr val="8B0B0D">
              <a:alpha val="95000"/>
            </a:srgbClr>
          </a:solidFill>
          <a:ln/>
        </p:spPr>
        <p:txBody>
          <a:bodyPr/>
          <a:lstStyle/>
          <a:p>
            <a:endParaRPr lang="en-GB"/>
          </a:p>
        </p:txBody>
      </p:sp>
      <p:sp>
        <p:nvSpPr>
          <p:cNvPr id="5" name="Text 3"/>
          <p:cNvSpPr/>
          <p:nvPr/>
        </p:nvSpPr>
        <p:spPr>
          <a:xfrm>
            <a:off x="707710" y="3274913"/>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FFFFFF"/>
                </a:solidFill>
                <a:latin typeface="Inter Bold" pitchFamily="34" charset="0"/>
                <a:ea typeface="Inter Bold" pitchFamily="34" charset="-122"/>
                <a:cs typeface="Inter Bold" pitchFamily="34" charset="-120"/>
              </a:rPr>
              <a:t>Unhappy Customer — Stay &amp; Manage</a:t>
            </a:r>
            <a:endParaRPr lang="en-US" sz="1600" dirty="0"/>
          </a:p>
        </p:txBody>
      </p:sp>
      <p:sp>
        <p:nvSpPr>
          <p:cNvPr id="6" name="Text 4"/>
          <p:cNvSpPr/>
          <p:nvPr/>
        </p:nvSpPr>
        <p:spPr>
          <a:xfrm>
            <a:off x="707710" y="3698677"/>
            <a:ext cx="5140196" cy="1554460"/>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Stay calm and professional at all times</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Do not argue or match the customer's tone</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Acknowledge the frustration without accepting blame</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Explain the available options clearly</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Escalate via the complaint process if needed</a:t>
            </a:r>
            <a:endParaRPr lang="en-US" sz="1300" dirty="0"/>
          </a:p>
        </p:txBody>
      </p:sp>
      <p:sp>
        <p:nvSpPr>
          <p:cNvPr id="7" name="Text 5"/>
          <p:cNvSpPr/>
          <p:nvPr/>
        </p:nvSpPr>
        <p:spPr>
          <a:xfrm>
            <a:off x="6303904" y="3274913"/>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Safety Threat — Withdraw &amp; Escalate</a:t>
            </a:r>
            <a:endParaRPr lang="en-US" sz="1600" dirty="0"/>
          </a:p>
        </p:txBody>
      </p:sp>
      <p:sp>
        <p:nvSpPr>
          <p:cNvPr id="8" name="Text 6"/>
          <p:cNvSpPr/>
          <p:nvPr/>
        </p:nvSpPr>
        <p:spPr>
          <a:xfrm>
            <a:off x="6303904" y="3698677"/>
            <a:ext cx="5232666" cy="1554460"/>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Maintain physical distance and keep your exit clear</a:t>
            </a:r>
            <a:endParaRPr lang="en-US" sz="1300" dirty="0"/>
          </a:p>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Do not attempt to resolve threats through conversation</a:t>
            </a:r>
            <a:endParaRPr lang="en-US" sz="1300" dirty="0"/>
          </a:p>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Withdraw calmly without confrontation</a:t>
            </a:r>
            <a:endParaRPr lang="en-US" sz="1300" dirty="0"/>
          </a:p>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Contact your supervisor or emergency services</a:t>
            </a:r>
            <a:endParaRPr lang="en-US" sz="1300" dirty="0"/>
          </a:p>
          <a:p>
            <a:pPr marL="264160" indent="-264160" algn="l">
              <a:lnSpc>
                <a:spcPct val="133000"/>
              </a:lnSpc>
              <a:buSzPct val="100000"/>
              <a:buChar char="•"/>
            </a:pPr>
            <a:r>
              <a:rPr lang="en-US" sz="1300" dirty="0">
                <a:solidFill>
                  <a:srgbClr val="333333"/>
                </a:solidFill>
                <a:latin typeface="Inter" pitchFamily="34" charset="0"/>
                <a:ea typeface="Inter" pitchFamily="34" charset="-122"/>
                <a:cs typeface="Inter" pitchFamily="34" charset="-120"/>
              </a:rPr>
              <a:t>Document the incident accurately and promptly</a:t>
            </a:r>
            <a:endParaRPr lang="en-US" sz="1300" dirty="0"/>
          </a:p>
        </p:txBody>
      </p:sp>
      <p:pic>
        <p:nvPicPr>
          <p:cNvPr id="10" name="RRTA corner logo" descr="Rapid Response Training Academy logo">
            <a:extLst>
              <a:ext uri="{FF2B5EF4-FFF2-40B4-BE49-F238E27FC236}">
                <a16:creationId xmlns:a16="http://schemas.microsoft.com/office/drawing/2014/main" id="{B8912996-FACE-974C-7CF4-4BE12E53F75A}"/>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475" y="598884"/>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Scenario Challenge – STOP / CONTINUE / ESCALATE</a:t>
            </a:r>
            <a:endParaRPr lang="en-US" sz="3250" dirty="0"/>
          </a:p>
        </p:txBody>
      </p:sp>
      <p:sp>
        <p:nvSpPr>
          <p:cNvPr id="3" name="Text 1"/>
          <p:cNvSpPr/>
          <p:nvPr/>
        </p:nvSpPr>
        <p:spPr>
          <a:xfrm>
            <a:off x="661475" y="1446312"/>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Six scenarios. One decision each. For every situation, choose your position — then be ready to explain your reasoning to the group. There is a correct answer for each one.</a:t>
            </a:r>
            <a:endParaRPr lang="en-US" sz="1300" dirty="0"/>
          </a:p>
        </p:txBody>
      </p:sp>
      <p:sp>
        <p:nvSpPr>
          <p:cNvPr id="4" name="Shape 2"/>
          <p:cNvSpPr/>
          <p:nvPr/>
        </p:nvSpPr>
        <p:spPr>
          <a:xfrm>
            <a:off x="661475" y="2161580"/>
            <a:ext cx="5351725"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5" name="Text 3"/>
          <p:cNvSpPr/>
          <p:nvPr/>
        </p:nvSpPr>
        <p:spPr>
          <a:xfrm>
            <a:off x="845819" y="2345928"/>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Angry Customer Over a Delay</a:t>
            </a:r>
            <a:endParaRPr lang="en-US" sz="1600" dirty="0"/>
          </a:p>
        </p:txBody>
      </p:sp>
      <p:sp>
        <p:nvSpPr>
          <p:cNvPr id="6" name="Text 4"/>
          <p:cNvSpPr/>
          <p:nvPr/>
        </p:nvSpPr>
        <p:spPr>
          <a:xfrm>
            <a:off x="845819" y="2703612"/>
            <a:ext cx="498303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Upset but not threatening. Raising their voice about a missed appointment window.</a:t>
            </a:r>
            <a:endParaRPr lang="en-US" sz="1300" dirty="0"/>
          </a:p>
        </p:txBody>
      </p:sp>
      <p:sp>
        <p:nvSpPr>
          <p:cNvPr id="7" name="Shape 5"/>
          <p:cNvSpPr/>
          <p:nvPr/>
        </p:nvSpPr>
        <p:spPr>
          <a:xfrm>
            <a:off x="6178495" y="2161580"/>
            <a:ext cx="5351725"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8" name="Text 6"/>
          <p:cNvSpPr/>
          <p:nvPr/>
        </p:nvSpPr>
        <p:spPr>
          <a:xfrm>
            <a:off x="6362838" y="2345928"/>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Loose Dog in the Work Area</a:t>
            </a:r>
            <a:endParaRPr lang="en-US" sz="1600" dirty="0"/>
          </a:p>
        </p:txBody>
      </p:sp>
      <p:sp>
        <p:nvSpPr>
          <p:cNvPr id="9" name="Text 7"/>
          <p:cNvSpPr/>
          <p:nvPr/>
        </p:nvSpPr>
        <p:spPr>
          <a:xfrm>
            <a:off x="6362838" y="2703612"/>
            <a:ext cx="498303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Large dog roaming freely. Owner says: "He's friendly, don't worry about it."</a:t>
            </a:r>
            <a:endParaRPr lang="en-US" sz="1300" dirty="0"/>
          </a:p>
        </p:txBody>
      </p:sp>
      <p:sp>
        <p:nvSpPr>
          <p:cNvPr id="10" name="Shape 8"/>
          <p:cNvSpPr/>
          <p:nvPr/>
        </p:nvSpPr>
        <p:spPr>
          <a:xfrm>
            <a:off x="661475" y="3582491"/>
            <a:ext cx="5351725"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1" name="Text 9"/>
          <p:cNvSpPr/>
          <p:nvPr/>
        </p:nvSpPr>
        <p:spPr>
          <a:xfrm>
            <a:off x="845819" y="3766840"/>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Cash Offered for Private Work</a:t>
            </a:r>
            <a:endParaRPr lang="en-US" sz="1600" dirty="0"/>
          </a:p>
        </p:txBody>
      </p:sp>
      <p:sp>
        <p:nvSpPr>
          <p:cNvPr id="12" name="Text 10"/>
          <p:cNvSpPr/>
          <p:nvPr/>
        </p:nvSpPr>
        <p:spPr>
          <a:xfrm>
            <a:off x="845819" y="4124523"/>
            <a:ext cx="498303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Customer offers cash to do additional work "off the books" while you are already on site.</a:t>
            </a:r>
            <a:endParaRPr lang="en-US" sz="1300" dirty="0"/>
          </a:p>
        </p:txBody>
      </p:sp>
      <p:sp>
        <p:nvSpPr>
          <p:cNvPr id="13" name="Shape 11"/>
          <p:cNvSpPr/>
          <p:nvPr/>
        </p:nvSpPr>
        <p:spPr>
          <a:xfrm>
            <a:off x="6178495" y="3582491"/>
            <a:ext cx="5351725"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4" name="Text 12"/>
          <p:cNvSpPr/>
          <p:nvPr/>
        </p:nvSpPr>
        <p:spPr>
          <a:xfrm>
            <a:off x="6362838" y="3766840"/>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Exposed Needle Near Work Area</a:t>
            </a:r>
            <a:endParaRPr lang="en-US" sz="1600" dirty="0"/>
          </a:p>
        </p:txBody>
      </p:sp>
      <p:sp>
        <p:nvSpPr>
          <p:cNvPr id="15" name="Text 13"/>
          <p:cNvSpPr/>
          <p:nvPr/>
        </p:nvSpPr>
        <p:spPr>
          <a:xfrm>
            <a:off x="6362838" y="4124523"/>
            <a:ext cx="4983038" cy="264616"/>
          </a:xfrm>
          <a:prstGeom prst="rect">
            <a:avLst/>
          </a:prstGeom>
          <a:noFill/>
          <a:ln/>
        </p:spPr>
        <p:txBody>
          <a:bodyPr wrap="none" lIns="0" tIns="0" rIns="0" bIns="0" rtlCol="0" anchor="t"/>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Sharps visible on the floor adjacent to where you need to work.</a:t>
            </a:r>
            <a:endParaRPr lang="en-US" sz="1300" dirty="0"/>
          </a:p>
        </p:txBody>
      </p:sp>
      <p:sp>
        <p:nvSpPr>
          <p:cNvPr id="16" name="Shape 14"/>
          <p:cNvSpPr/>
          <p:nvPr/>
        </p:nvSpPr>
        <p:spPr>
          <a:xfrm>
            <a:off x="661475" y="5003403"/>
            <a:ext cx="5351725"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7" name="Text 15"/>
          <p:cNvSpPr/>
          <p:nvPr/>
        </p:nvSpPr>
        <p:spPr>
          <a:xfrm>
            <a:off x="845819" y="5187752"/>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Furniture Needs Moving</a:t>
            </a:r>
            <a:endParaRPr lang="en-US" sz="1600" dirty="0"/>
          </a:p>
        </p:txBody>
      </p:sp>
      <p:sp>
        <p:nvSpPr>
          <p:cNvPr id="18" name="Text 16"/>
          <p:cNvSpPr/>
          <p:nvPr/>
        </p:nvSpPr>
        <p:spPr>
          <a:xfrm>
            <a:off x="845819" y="5545435"/>
            <a:ext cx="498303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Customer asks the engineer to help move a large cabinet to access the equipment location.</a:t>
            </a:r>
            <a:endParaRPr lang="en-US" sz="1300" dirty="0"/>
          </a:p>
        </p:txBody>
      </p:sp>
      <p:sp>
        <p:nvSpPr>
          <p:cNvPr id="19" name="Shape 17"/>
          <p:cNvSpPr/>
          <p:nvPr/>
        </p:nvSpPr>
        <p:spPr>
          <a:xfrm>
            <a:off x="6178495" y="5003403"/>
            <a:ext cx="5351725"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20" name="Text 18"/>
          <p:cNvSpPr/>
          <p:nvPr/>
        </p:nvSpPr>
        <p:spPr>
          <a:xfrm>
            <a:off x="6362838" y="5187752"/>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Unauthorised Route Change</a:t>
            </a:r>
            <a:endParaRPr lang="en-US" sz="1600" dirty="0"/>
          </a:p>
        </p:txBody>
      </p:sp>
      <p:sp>
        <p:nvSpPr>
          <p:cNvPr id="21" name="Text 19"/>
          <p:cNvSpPr/>
          <p:nvPr/>
        </p:nvSpPr>
        <p:spPr>
          <a:xfrm>
            <a:off x="6362838" y="5545435"/>
            <a:ext cx="498303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Customer insists on a different cable route mid-installation, without supervisor approval.</a:t>
            </a:r>
            <a:endParaRPr lang="en-US" sz="1300" dirty="0"/>
          </a:p>
        </p:txBody>
      </p:sp>
      <p:pic>
        <p:nvPicPr>
          <p:cNvPr id="23" name="RRTA corner logo" descr="Rapid Response Training Academy logo">
            <a:extLst>
              <a:ext uri="{FF2B5EF4-FFF2-40B4-BE49-F238E27FC236}">
                <a16:creationId xmlns:a16="http://schemas.microsoft.com/office/drawing/2014/main" id="{FB6D5D3F-A446-3740-3978-EA7938F43B1A}"/>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475" y="906760"/>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COMPLETE – The Last Impression</a:t>
            </a:r>
            <a:endParaRPr lang="en-US" sz="3250" dirty="0"/>
          </a:p>
        </p:txBody>
      </p:sp>
      <p:sp>
        <p:nvSpPr>
          <p:cNvPr id="3" name="Text 1"/>
          <p:cNvSpPr/>
          <p:nvPr/>
        </p:nvSpPr>
        <p:spPr>
          <a:xfrm>
            <a:off x="661475" y="1754188"/>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The end of a visit is just as important as the beginning. How you leave — the condition of the work area, the customer's understanding, their confidence in what has been installed — determines the final impression and directly affects satisfaction scores and complaints.</a:t>
            </a:r>
            <a:endParaRPr lang="en-US" sz="1300" dirty="0"/>
          </a:p>
        </p:txBody>
      </p:sp>
      <p:sp>
        <p:nvSpPr>
          <p:cNvPr id="4" name="Text 2"/>
          <p:cNvSpPr/>
          <p:nvPr/>
        </p:nvSpPr>
        <p:spPr>
          <a:xfrm>
            <a:off x="661475" y="2469455"/>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333333"/>
                </a:solidFill>
                <a:latin typeface="Inter Light" pitchFamily="34" charset="0"/>
                <a:ea typeface="Inter Light" pitchFamily="34" charset="-122"/>
                <a:cs typeface="Inter Light" pitchFamily="34" charset="-120"/>
              </a:rPr>
              <a:t>01</a:t>
            </a:r>
            <a:endParaRPr lang="en-US" sz="1300" dirty="0"/>
          </a:p>
        </p:txBody>
      </p:sp>
      <p:sp>
        <p:nvSpPr>
          <p:cNvPr id="5" name="Shape 3"/>
          <p:cNvSpPr/>
          <p:nvPr/>
        </p:nvSpPr>
        <p:spPr>
          <a:xfrm>
            <a:off x="661475" y="2731393"/>
            <a:ext cx="5351725" cy="19050"/>
          </a:xfrm>
          <a:prstGeom prst="rect">
            <a:avLst/>
          </a:prstGeom>
          <a:solidFill>
            <a:srgbClr val="8B0B0D"/>
          </a:solidFill>
          <a:ln/>
        </p:spPr>
        <p:txBody>
          <a:bodyPr/>
          <a:lstStyle/>
          <a:p>
            <a:endParaRPr lang="en-GB"/>
          </a:p>
        </p:txBody>
      </p:sp>
      <p:sp>
        <p:nvSpPr>
          <p:cNvPr id="6" name="Text 4"/>
          <p:cNvSpPr/>
          <p:nvPr/>
        </p:nvSpPr>
        <p:spPr>
          <a:xfrm>
            <a:off x="661475" y="2852142"/>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Tidy and Check the Work Area</a:t>
            </a:r>
            <a:endParaRPr lang="en-US" sz="1600" dirty="0"/>
          </a:p>
        </p:txBody>
      </p:sp>
      <p:sp>
        <p:nvSpPr>
          <p:cNvPr id="7" name="Text 5"/>
          <p:cNvSpPr/>
          <p:nvPr/>
        </p:nvSpPr>
        <p:spPr>
          <a:xfrm>
            <a:off x="661475" y="3209826"/>
            <a:ext cx="535172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Remove all packaging, cable offcuts, dust, and debris. Leave the property in the same condition — or better — than you found it.</a:t>
            </a:r>
            <a:endParaRPr lang="en-US" sz="1300" dirty="0"/>
          </a:p>
        </p:txBody>
      </p:sp>
      <p:sp>
        <p:nvSpPr>
          <p:cNvPr id="8" name="Text 6"/>
          <p:cNvSpPr/>
          <p:nvPr/>
        </p:nvSpPr>
        <p:spPr>
          <a:xfrm>
            <a:off x="6178495" y="2469455"/>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333333"/>
                </a:solidFill>
                <a:latin typeface="Inter Light" pitchFamily="34" charset="0"/>
                <a:ea typeface="Inter Light" pitchFamily="34" charset="-122"/>
                <a:cs typeface="Inter Light" pitchFamily="34" charset="-120"/>
              </a:rPr>
              <a:t>02</a:t>
            </a:r>
            <a:endParaRPr lang="en-US" sz="1300" dirty="0"/>
          </a:p>
        </p:txBody>
      </p:sp>
      <p:sp>
        <p:nvSpPr>
          <p:cNvPr id="9" name="Shape 7"/>
          <p:cNvSpPr/>
          <p:nvPr/>
        </p:nvSpPr>
        <p:spPr>
          <a:xfrm>
            <a:off x="6178495" y="2731393"/>
            <a:ext cx="5351725" cy="19050"/>
          </a:xfrm>
          <a:prstGeom prst="rect">
            <a:avLst/>
          </a:prstGeom>
          <a:solidFill>
            <a:srgbClr val="8B0B0D"/>
          </a:solidFill>
          <a:ln/>
        </p:spPr>
        <p:txBody>
          <a:bodyPr/>
          <a:lstStyle/>
          <a:p>
            <a:endParaRPr lang="en-GB"/>
          </a:p>
        </p:txBody>
      </p:sp>
      <p:sp>
        <p:nvSpPr>
          <p:cNvPr id="10" name="Text 8"/>
          <p:cNvSpPr/>
          <p:nvPr/>
        </p:nvSpPr>
        <p:spPr>
          <a:xfrm>
            <a:off x="6178495" y="2852142"/>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Demonstrate the Completed Work</a:t>
            </a:r>
            <a:endParaRPr lang="en-US" sz="1600" dirty="0"/>
          </a:p>
        </p:txBody>
      </p:sp>
      <p:sp>
        <p:nvSpPr>
          <p:cNvPr id="11" name="Text 9"/>
          <p:cNvSpPr/>
          <p:nvPr/>
        </p:nvSpPr>
        <p:spPr>
          <a:xfrm>
            <a:off x="6178495" y="3209826"/>
            <a:ext cx="5351725"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Show the customer that everything is working as expected. Walk them through the installation and confirm it meets the agreed outcome.</a:t>
            </a:r>
            <a:endParaRPr lang="en-US" sz="1300" dirty="0"/>
          </a:p>
        </p:txBody>
      </p:sp>
      <p:sp>
        <p:nvSpPr>
          <p:cNvPr id="12" name="Text 10"/>
          <p:cNvSpPr/>
          <p:nvPr/>
        </p:nvSpPr>
        <p:spPr>
          <a:xfrm>
            <a:off x="661475" y="4292997"/>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333333"/>
                </a:solidFill>
                <a:latin typeface="Inter Light" pitchFamily="34" charset="0"/>
                <a:ea typeface="Inter Light" pitchFamily="34" charset="-122"/>
                <a:cs typeface="Inter Light" pitchFamily="34" charset="-120"/>
              </a:rPr>
              <a:t>03</a:t>
            </a:r>
            <a:endParaRPr lang="en-US" sz="1300" dirty="0"/>
          </a:p>
        </p:txBody>
      </p:sp>
      <p:sp>
        <p:nvSpPr>
          <p:cNvPr id="13" name="Shape 11"/>
          <p:cNvSpPr/>
          <p:nvPr/>
        </p:nvSpPr>
        <p:spPr>
          <a:xfrm>
            <a:off x="661475" y="4554934"/>
            <a:ext cx="5351725" cy="19050"/>
          </a:xfrm>
          <a:prstGeom prst="rect">
            <a:avLst/>
          </a:prstGeom>
          <a:solidFill>
            <a:srgbClr val="8B0B0D"/>
          </a:solidFill>
          <a:ln/>
        </p:spPr>
        <p:txBody>
          <a:bodyPr/>
          <a:lstStyle/>
          <a:p>
            <a:endParaRPr lang="en-GB"/>
          </a:p>
        </p:txBody>
      </p:sp>
      <p:sp>
        <p:nvSpPr>
          <p:cNvPr id="14" name="Text 12"/>
          <p:cNvSpPr/>
          <p:nvPr/>
        </p:nvSpPr>
        <p:spPr>
          <a:xfrm>
            <a:off x="661475" y="4675684"/>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Explain What the Customer Needs to Know</a:t>
            </a:r>
            <a:endParaRPr lang="en-US" sz="1600" dirty="0"/>
          </a:p>
        </p:txBody>
      </p:sp>
      <p:sp>
        <p:nvSpPr>
          <p:cNvPr id="15" name="Text 13"/>
          <p:cNvSpPr/>
          <p:nvPr/>
        </p:nvSpPr>
        <p:spPr>
          <a:xfrm>
            <a:off x="661475" y="5033367"/>
            <a:ext cx="535172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Cover anything the customer needs to operate, maintain, or report on the equipment. Use clear, jargon-free language.</a:t>
            </a:r>
            <a:endParaRPr lang="en-US" sz="1300" dirty="0"/>
          </a:p>
        </p:txBody>
      </p:sp>
      <p:sp>
        <p:nvSpPr>
          <p:cNvPr id="16" name="Text 14"/>
          <p:cNvSpPr/>
          <p:nvPr/>
        </p:nvSpPr>
        <p:spPr>
          <a:xfrm>
            <a:off x="6178495" y="4292997"/>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333333"/>
                </a:solidFill>
                <a:latin typeface="Inter Light" pitchFamily="34" charset="0"/>
                <a:ea typeface="Inter Light" pitchFamily="34" charset="-122"/>
                <a:cs typeface="Inter Light" pitchFamily="34" charset="-120"/>
              </a:rPr>
              <a:t>04</a:t>
            </a:r>
            <a:endParaRPr lang="en-US" sz="1300" dirty="0"/>
          </a:p>
        </p:txBody>
      </p:sp>
      <p:sp>
        <p:nvSpPr>
          <p:cNvPr id="17" name="Shape 15"/>
          <p:cNvSpPr/>
          <p:nvPr/>
        </p:nvSpPr>
        <p:spPr>
          <a:xfrm>
            <a:off x="6178495" y="4554934"/>
            <a:ext cx="5351725" cy="19050"/>
          </a:xfrm>
          <a:prstGeom prst="rect">
            <a:avLst/>
          </a:prstGeom>
          <a:solidFill>
            <a:srgbClr val="8B0B0D"/>
          </a:solidFill>
          <a:ln/>
        </p:spPr>
        <p:txBody>
          <a:bodyPr/>
          <a:lstStyle/>
          <a:p>
            <a:endParaRPr lang="en-GB"/>
          </a:p>
        </p:txBody>
      </p:sp>
      <p:sp>
        <p:nvSpPr>
          <p:cNvPr id="18" name="Text 16"/>
          <p:cNvSpPr/>
          <p:nvPr/>
        </p:nvSpPr>
        <p:spPr>
          <a:xfrm>
            <a:off x="6178495" y="4675684"/>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Confirm Understanding &amp; Leave Professionally</a:t>
            </a:r>
            <a:endParaRPr lang="en-US" sz="1600" dirty="0"/>
          </a:p>
        </p:txBody>
      </p:sp>
      <p:sp>
        <p:nvSpPr>
          <p:cNvPr id="19" name="Text 17"/>
          <p:cNvSpPr/>
          <p:nvPr/>
        </p:nvSpPr>
        <p:spPr>
          <a:xfrm>
            <a:off x="6178495" y="5033367"/>
            <a:ext cx="5351725"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Check the customer has no remaining questions. Say a proper goodbye — a professional close to the visit reinforces confidence in the service they have received.</a:t>
            </a:r>
            <a:endParaRPr lang="en-US" sz="1300" dirty="0"/>
          </a:p>
        </p:txBody>
      </p:sp>
      <p:pic>
        <p:nvPicPr>
          <p:cNvPr id="21" name="RRTA corner logo" descr="Rapid Response Training Academy logo">
            <a:extLst>
              <a:ext uri="{FF2B5EF4-FFF2-40B4-BE49-F238E27FC236}">
                <a16:creationId xmlns:a16="http://schemas.microsoft.com/office/drawing/2014/main" id="{9E457331-1C6F-4BBA-DF78-7B0FA9F646AC}"/>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61475" y="589062"/>
            <a:ext cx="10868745" cy="387648"/>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Inter Bold" pitchFamily="34" charset="0"/>
                <a:ea typeface="Inter Bold" pitchFamily="34" charset="-122"/>
                <a:cs typeface="Inter Bold" pitchFamily="34" charset="-120"/>
              </a:rPr>
              <a:t>The Whole Customer Journey</a:t>
            </a:r>
            <a:endParaRPr lang="en-US" sz="2400" dirty="0"/>
          </a:p>
        </p:txBody>
      </p:sp>
      <p:sp>
        <p:nvSpPr>
          <p:cNvPr id="3" name="Text 1"/>
          <p:cNvSpPr/>
          <p:nvPr/>
        </p:nvSpPr>
        <p:spPr>
          <a:xfrm>
            <a:off x="661475" y="1162745"/>
            <a:ext cx="11478330" cy="173633"/>
          </a:xfrm>
          <a:prstGeom prst="rect">
            <a:avLst/>
          </a:prstGeom>
          <a:noFill/>
          <a:ln/>
        </p:spPr>
        <p:txBody>
          <a:bodyPr wrap="none" lIns="0" tIns="0" rIns="0" bIns="0" rtlCol="0" anchor="t"/>
          <a:lstStyle/>
          <a:p>
            <a:pPr marL="0" indent="0" algn="l">
              <a:lnSpc>
                <a:spcPct val="117000"/>
              </a:lnSpc>
              <a:buNone/>
            </a:pPr>
            <a:r>
              <a:rPr lang="en-US" sz="950" dirty="0">
                <a:solidFill>
                  <a:srgbClr val="333333"/>
                </a:solidFill>
                <a:latin typeface="Inter" pitchFamily="34" charset="0"/>
                <a:ea typeface="Inter" pitchFamily="34" charset="-122"/>
                <a:cs typeface="Inter" pitchFamily="34" charset="-120"/>
              </a:rPr>
              <a:t>Every visit follows the same six-stage standard — regardless of job type, property, or complexity. This is the framework that defines professional conduct at every door.</a:t>
            </a:r>
            <a:endParaRPr lang="en-US" sz="950" dirty="0"/>
          </a:p>
        </p:txBody>
      </p:sp>
      <p:pic>
        <p:nvPicPr>
          <p:cNvPr id="4" name="Image 0" descr="preencoded.png"/>
          <p:cNvPicPr>
            <a:picLocks noChangeAspect="1"/>
          </p:cNvPicPr>
          <p:nvPr/>
        </p:nvPicPr>
        <p:blipFill>
          <a:blip r:embed="rId3"/>
          <a:stretch>
            <a:fillRect/>
          </a:stretch>
        </p:blipFill>
        <p:spPr>
          <a:xfrm>
            <a:off x="661475" y="1440954"/>
            <a:ext cx="8151509" cy="4549775"/>
          </a:xfrm>
          <a:prstGeom prst="rect">
            <a:avLst/>
          </a:prstGeom>
        </p:spPr>
      </p:pic>
      <p:sp>
        <p:nvSpPr>
          <p:cNvPr id="5" name="Text 2"/>
          <p:cNvSpPr/>
          <p:nvPr/>
        </p:nvSpPr>
        <p:spPr>
          <a:xfrm>
            <a:off x="661475" y="6095305"/>
            <a:ext cx="11478330" cy="173633"/>
          </a:xfrm>
          <a:prstGeom prst="rect">
            <a:avLst/>
          </a:prstGeom>
          <a:noFill/>
          <a:ln/>
        </p:spPr>
        <p:txBody>
          <a:bodyPr wrap="none" lIns="0" tIns="0" rIns="0" bIns="0" rtlCol="0" anchor="t"/>
          <a:lstStyle/>
          <a:p>
            <a:pPr marL="0" indent="0" algn="l">
              <a:lnSpc>
                <a:spcPct val="117000"/>
              </a:lnSpc>
              <a:buNone/>
            </a:pPr>
            <a:r>
              <a:rPr lang="en-US" sz="950" dirty="0">
                <a:solidFill>
                  <a:srgbClr val="333333"/>
                </a:solidFill>
                <a:latin typeface="Inter" pitchFamily="34" charset="0"/>
                <a:ea typeface="Inter" pitchFamily="34" charset="-122"/>
                <a:cs typeface="Inter" pitchFamily="34" charset="-120"/>
              </a:rPr>
              <a:t>Without looking back at the slides, explain one expected behaviour for each of the six stages.</a:t>
            </a:r>
            <a:endParaRPr lang="en-US" sz="950" dirty="0"/>
          </a:p>
        </p:txBody>
      </p:sp>
      <p:pic>
        <p:nvPicPr>
          <p:cNvPr id="7" name="RRTA corner logo" descr="Rapid Response Training Academy logo">
            <a:extLst>
              <a:ext uri="{FF2B5EF4-FFF2-40B4-BE49-F238E27FC236}">
                <a16:creationId xmlns:a16="http://schemas.microsoft.com/office/drawing/2014/main" id="{0B7EACB4-119B-920E-B41A-E0E64442D5D0}"/>
              </a:ext>
            </a:extLst>
          </p:cNvPr>
          <p:cNvPicPr>
            <a:picLocks noChangeAspect="1"/>
          </p:cNvPicPr>
          <p:nvPr/>
        </p:nvPicPr>
        <p:blipFill>
          <a:blip r:embed="rId4">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62621" y="0"/>
            <a:ext cx="5029074" cy="6858000"/>
          </a:xfrm>
          <a:prstGeom prst="rect">
            <a:avLst/>
          </a:prstGeom>
        </p:spPr>
      </p:pic>
      <p:sp>
        <p:nvSpPr>
          <p:cNvPr id="3" name="Text 0"/>
          <p:cNvSpPr/>
          <p:nvPr/>
        </p:nvSpPr>
        <p:spPr>
          <a:xfrm>
            <a:off x="661475" y="812899"/>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The Final Rule</a:t>
            </a:r>
            <a:endParaRPr lang="en-US" sz="3250" dirty="0"/>
          </a:p>
        </p:txBody>
      </p:sp>
      <p:sp>
        <p:nvSpPr>
          <p:cNvPr id="4" name="Text 1"/>
          <p:cNvSpPr/>
          <p:nvPr/>
        </p:nvSpPr>
        <p:spPr>
          <a:xfrm>
            <a:off x="661475" y="1577677"/>
            <a:ext cx="6296860" cy="713184"/>
          </a:xfrm>
          <a:prstGeom prst="rect">
            <a:avLst/>
          </a:prstGeom>
          <a:noFill/>
          <a:ln/>
        </p:spPr>
        <p:txBody>
          <a:bodyPr wrap="none" lIns="0" tIns="0" rIns="0" bIns="0" rtlCol="0" anchor="t"/>
          <a:lstStyle/>
          <a:p>
            <a:pPr marL="0" indent="0" algn="ctr">
              <a:lnSpc>
                <a:spcPct val="104000"/>
              </a:lnSpc>
              <a:buNone/>
            </a:pPr>
            <a:r>
              <a:rPr lang="en-US" sz="4450" b="1" dirty="0">
                <a:solidFill>
                  <a:srgbClr val="8B0B0D"/>
                </a:solidFill>
                <a:latin typeface="Inter Bold" pitchFamily="34" charset="0"/>
                <a:ea typeface="Inter Bold" pitchFamily="34" charset="-122"/>
                <a:cs typeface="Inter Bold" pitchFamily="34" charset="-120"/>
              </a:rPr>
              <a:t>IF YOU ARE UNSURE:</a:t>
            </a:r>
            <a:endParaRPr lang="en-US" sz="4450" dirty="0"/>
          </a:p>
        </p:txBody>
      </p:sp>
      <p:sp>
        <p:nvSpPr>
          <p:cNvPr id="5" name="Shape 2"/>
          <p:cNvSpPr/>
          <p:nvPr/>
        </p:nvSpPr>
        <p:spPr>
          <a:xfrm>
            <a:off x="661475" y="2538909"/>
            <a:ext cx="6296860" cy="3506192"/>
          </a:xfrm>
          <a:prstGeom prst="roundRect">
            <a:avLst>
              <a:gd name="adj" fmla="val 7076"/>
            </a:avLst>
          </a:prstGeom>
          <a:solidFill>
            <a:srgbClr val="EAE2E2"/>
          </a:solidFill>
          <a:ln w="63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6" name="Shape 3"/>
          <p:cNvSpPr/>
          <p:nvPr/>
        </p:nvSpPr>
        <p:spPr>
          <a:xfrm>
            <a:off x="667825" y="2545259"/>
            <a:ext cx="3142080" cy="2011362"/>
          </a:xfrm>
          <a:custGeom>
            <a:avLst/>
            <a:gdLst/>
            <a:ahLst/>
            <a:cxnLst/>
            <a:rect l="l" t="t" r="r" b="b"/>
            <a:pathLst>
              <a:path w="3142080" h="2011362">
                <a:moveTo>
                  <a:pt x="206739" y="0"/>
                </a:moveTo>
                <a:lnTo>
                  <a:pt x="3142080" y="0"/>
                </a:lnTo>
                <a:lnTo>
                  <a:pt x="3142080" y="2011362"/>
                </a:lnTo>
                <a:lnTo>
                  <a:pt x="0" y="2011362"/>
                </a:lnTo>
                <a:lnTo>
                  <a:pt x="0" y="206744"/>
                </a:lnTo>
                <a:arcTo wR="206739" hR="206744" stAng="10800000" swAng="5400000"/>
                <a:close/>
              </a:path>
            </a:pathLst>
          </a:custGeom>
          <a:solidFill>
            <a:srgbClr val="EAE2E2"/>
          </a:solidFill>
          <a:ln/>
        </p:spPr>
        <p:txBody>
          <a:bodyPr/>
          <a:lstStyle/>
          <a:p>
            <a:endParaRPr lang="en-GB"/>
          </a:p>
        </p:txBody>
      </p:sp>
      <p:sp>
        <p:nvSpPr>
          <p:cNvPr id="7" name="Text 4"/>
          <p:cNvSpPr/>
          <p:nvPr/>
        </p:nvSpPr>
        <p:spPr>
          <a:xfrm>
            <a:off x="833119" y="2710557"/>
            <a:ext cx="2811491"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DON'T GUESS</a:t>
            </a:r>
            <a:endParaRPr lang="en-US" sz="1600" dirty="0"/>
          </a:p>
        </p:txBody>
      </p:sp>
      <p:sp>
        <p:nvSpPr>
          <p:cNvPr id="8" name="Text 5"/>
          <p:cNvSpPr/>
          <p:nvPr/>
        </p:nvSpPr>
        <p:spPr>
          <a:xfrm>
            <a:off x="833119" y="3068241"/>
            <a:ext cx="2811491"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Making an unauthorised assumption to keep the job moving is how incidents, complaints, and liability claims begin. Uncertainty is a signal to stop, not to proceed.</a:t>
            </a:r>
            <a:endParaRPr lang="en-US" sz="1300" dirty="0"/>
          </a:p>
        </p:txBody>
      </p:sp>
      <p:sp>
        <p:nvSpPr>
          <p:cNvPr id="9" name="Shape 6"/>
          <p:cNvSpPr/>
          <p:nvPr/>
        </p:nvSpPr>
        <p:spPr>
          <a:xfrm>
            <a:off x="3809905" y="2545259"/>
            <a:ext cx="3142080" cy="2011362"/>
          </a:xfrm>
          <a:custGeom>
            <a:avLst/>
            <a:gdLst/>
            <a:ahLst/>
            <a:cxnLst/>
            <a:rect l="l" t="t" r="r" b="b"/>
            <a:pathLst>
              <a:path w="3142080" h="2011362">
                <a:moveTo>
                  <a:pt x="0" y="0"/>
                </a:moveTo>
                <a:lnTo>
                  <a:pt x="2935341" y="0"/>
                </a:lnTo>
                <a:arcTo wR="206739" hR="206744" stAng="16200000" swAng="5400000"/>
                <a:lnTo>
                  <a:pt x="3142080" y="2011362"/>
                </a:lnTo>
                <a:lnTo>
                  <a:pt x="0" y="2011362"/>
                </a:lnTo>
                <a:lnTo>
                  <a:pt x="0" y="0"/>
                </a:lnTo>
                <a:close/>
              </a:path>
            </a:pathLst>
          </a:custGeom>
          <a:solidFill>
            <a:srgbClr val="EAE2E2"/>
          </a:solidFill>
          <a:ln/>
        </p:spPr>
        <p:txBody>
          <a:bodyPr/>
          <a:lstStyle/>
          <a:p>
            <a:endParaRPr lang="en-GB"/>
          </a:p>
        </p:txBody>
      </p:sp>
      <p:sp>
        <p:nvSpPr>
          <p:cNvPr id="10" name="Shape 7"/>
          <p:cNvSpPr/>
          <p:nvPr/>
        </p:nvSpPr>
        <p:spPr>
          <a:xfrm>
            <a:off x="3809905" y="2545259"/>
            <a:ext cx="19050" cy="2011362"/>
          </a:xfrm>
          <a:prstGeom prst="roundRect">
            <a:avLst>
              <a:gd name="adj" fmla="val 49999"/>
            </a:avLst>
          </a:prstGeom>
          <a:solidFill>
            <a:srgbClr val="D0C8C8"/>
          </a:solidFill>
          <a:ln/>
        </p:spPr>
        <p:txBody>
          <a:bodyPr/>
          <a:lstStyle/>
          <a:p>
            <a:endParaRPr lang="en-GB"/>
          </a:p>
        </p:txBody>
      </p:sp>
      <p:sp>
        <p:nvSpPr>
          <p:cNvPr id="11" name="Text 8"/>
          <p:cNvSpPr/>
          <p:nvPr/>
        </p:nvSpPr>
        <p:spPr>
          <a:xfrm>
            <a:off x="3975199" y="2710557"/>
            <a:ext cx="2811491"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STOP &amp; MAKE SAFE</a:t>
            </a:r>
            <a:endParaRPr lang="en-US" sz="1600" dirty="0"/>
          </a:p>
        </p:txBody>
      </p:sp>
      <p:sp>
        <p:nvSpPr>
          <p:cNvPr id="12" name="Text 9"/>
          <p:cNvSpPr/>
          <p:nvPr/>
        </p:nvSpPr>
        <p:spPr>
          <a:xfrm>
            <a:off x="3975199" y="3068241"/>
            <a:ext cx="2811491"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Pause all work. Secure the area, protect the customer, and ensure you are in a safe position before taking any further action.</a:t>
            </a:r>
            <a:endParaRPr lang="en-US" sz="1300" dirty="0"/>
          </a:p>
        </p:txBody>
      </p:sp>
      <p:sp>
        <p:nvSpPr>
          <p:cNvPr id="13" name="Shape 10"/>
          <p:cNvSpPr/>
          <p:nvPr/>
        </p:nvSpPr>
        <p:spPr>
          <a:xfrm>
            <a:off x="667825" y="4556621"/>
            <a:ext cx="6284160" cy="1482130"/>
          </a:xfrm>
          <a:custGeom>
            <a:avLst/>
            <a:gdLst/>
            <a:ahLst/>
            <a:cxnLst/>
            <a:rect l="l" t="t" r="r" b="b"/>
            <a:pathLst>
              <a:path w="6284160" h="1482130">
                <a:moveTo>
                  <a:pt x="0" y="0"/>
                </a:moveTo>
                <a:lnTo>
                  <a:pt x="6284160" y="0"/>
                </a:lnTo>
                <a:lnTo>
                  <a:pt x="6284160" y="1275386"/>
                </a:lnTo>
                <a:arcTo wR="206739" hR="206744" stAng="0" swAng="5400000"/>
                <a:lnTo>
                  <a:pt x="206739" y="1482130"/>
                </a:lnTo>
                <a:arcTo wR="206739" hR="206744" stAng="5400000" swAng="5400000"/>
                <a:lnTo>
                  <a:pt x="0" y="0"/>
                </a:lnTo>
                <a:close/>
              </a:path>
            </a:pathLst>
          </a:custGeom>
          <a:solidFill>
            <a:srgbClr val="EAE2E2"/>
          </a:solidFill>
          <a:ln/>
        </p:spPr>
        <p:txBody>
          <a:bodyPr/>
          <a:lstStyle/>
          <a:p>
            <a:endParaRPr lang="en-GB"/>
          </a:p>
        </p:txBody>
      </p:sp>
      <p:sp>
        <p:nvSpPr>
          <p:cNvPr id="14" name="Shape 11"/>
          <p:cNvSpPr/>
          <p:nvPr/>
        </p:nvSpPr>
        <p:spPr>
          <a:xfrm>
            <a:off x="667825" y="4556621"/>
            <a:ext cx="6284160" cy="19050"/>
          </a:xfrm>
          <a:prstGeom prst="roundRect">
            <a:avLst>
              <a:gd name="adj" fmla="val 49999"/>
            </a:avLst>
          </a:prstGeom>
          <a:solidFill>
            <a:srgbClr val="D0C8C8"/>
          </a:solidFill>
          <a:ln/>
        </p:spPr>
        <p:txBody>
          <a:bodyPr/>
          <a:lstStyle/>
          <a:p>
            <a:endParaRPr lang="en-GB"/>
          </a:p>
        </p:txBody>
      </p:sp>
      <p:sp>
        <p:nvSpPr>
          <p:cNvPr id="15" name="Text 12"/>
          <p:cNvSpPr/>
          <p:nvPr/>
        </p:nvSpPr>
        <p:spPr>
          <a:xfrm>
            <a:off x="833119" y="4721920"/>
            <a:ext cx="5953571"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ESCALATE</a:t>
            </a:r>
            <a:endParaRPr lang="en-US" sz="1600" dirty="0"/>
          </a:p>
        </p:txBody>
      </p:sp>
      <p:sp>
        <p:nvSpPr>
          <p:cNvPr id="16" name="Text 13"/>
          <p:cNvSpPr/>
          <p:nvPr/>
        </p:nvSpPr>
        <p:spPr>
          <a:xfrm>
            <a:off x="833119" y="5079603"/>
            <a:ext cx="595357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Contact your supervisor and follow the approved process. Engineers are never expected to make unsupported decisions in complex or unsafe situations. That is what the process is for.</a:t>
            </a:r>
            <a:endParaRPr lang="en-US" sz="1300" dirty="0"/>
          </a:p>
        </p:txBody>
      </p:sp>
      <p:pic>
        <p:nvPicPr>
          <p:cNvPr id="18" name="RRTA corner logo" descr="Rapid Response Training Academy logo">
            <a:extLst>
              <a:ext uri="{FF2B5EF4-FFF2-40B4-BE49-F238E27FC236}">
                <a16:creationId xmlns:a16="http://schemas.microsoft.com/office/drawing/2014/main" id="{37020362-5730-2615-C3CB-FFB31398A67F}"/>
              </a:ext>
            </a:extLst>
          </p:cNvPr>
          <p:cNvPicPr>
            <a:picLocks noChangeAspect="1"/>
          </p:cNvPicPr>
          <p:nvPr/>
        </p:nvPicPr>
        <p:blipFill>
          <a:blip r:embed="rId4">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61475" y="119806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Summative Assessment</a:t>
            </a:r>
            <a:endParaRPr lang="en-US" sz="3250" dirty="0"/>
          </a:p>
        </p:txBody>
      </p:sp>
      <p:sp>
        <p:nvSpPr>
          <p:cNvPr id="3" name="Text 1"/>
          <p:cNvSpPr/>
          <p:nvPr/>
        </p:nvSpPr>
        <p:spPr>
          <a:xfrm>
            <a:off x="661475" y="2045494"/>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This assessment confirms that you have understood the key principles covered in this session. It must be completed individually, without support from the trainer or other learners. Read each question carefully before answering.</a:t>
            </a:r>
            <a:endParaRPr lang="en-US" sz="1300" dirty="0"/>
          </a:p>
        </p:txBody>
      </p:sp>
      <p:sp>
        <p:nvSpPr>
          <p:cNvPr id="4" name="Text 2"/>
          <p:cNvSpPr/>
          <p:nvPr/>
        </p:nvSpPr>
        <p:spPr>
          <a:xfrm>
            <a:off x="661475" y="2843411"/>
            <a:ext cx="5330989" cy="545802"/>
          </a:xfrm>
          <a:prstGeom prst="rect">
            <a:avLst/>
          </a:prstGeom>
          <a:noFill/>
          <a:ln/>
        </p:spPr>
        <p:txBody>
          <a:bodyPr wrap="none" lIns="0" tIns="0" rIns="0" bIns="0" rtlCol="0" anchor="t"/>
          <a:lstStyle/>
          <a:p>
            <a:pPr marL="0" indent="0" algn="ctr">
              <a:lnSpc>
                <a:spcPct val="83000"/>
              </a:lnSpc>
              <a:buNone/>
            </a:pPr>
            <a:r>
              <a:rPr lang="en-US" sz="4250" b="1" dirty="0">
                <a:solidFill>
                  <a:srgbClr val="333333"/>
                </a:solidFill>
                <a:latin typeface="Inter Bold" pitchFamily="34" charset="0"/>
                <a:ea typeface="Inter Bold" pitchFamily="34" charset="-122"/>
                <a:cs typeface="Inter Bold" pitchFamily="34" charset="-120"/>
              </a:rPr>
              <a:t>20</a:t>
            </a:r>
            <a:endParaRPr lang="en-US" sz="4250" dirty="0"/>
          </a:p>
        </p:txBody>
      </p:sp>
      <p:sp>
        <p:nvSpPr>
          <p:cNvPr id="5" name="Text 3"/>
          <p:cNvSpPr/>
          <p:nvPr/>
        </p:nvSpPr>
        <p:spPr>
          <a:xfrm>
            <a:off x="661475" y="3595886"/>
            <a:ext cx="5330989" cy="258465"/>
          </a:xfrm>
          <a:prstGeom prst="rect">
            <a:avLst/>
          </a:prstGeom>
          <a:noFill/>
          <a:ln/>
        </p:spPr>
        <p:txBody>
          <a:bodyPr wrap="none" lIns="0" tIns="0" rIns="0" bIns="0" rtlCol="0" anchor="t"/>
          <a:lstStyle/>
          <a:p>
            <a:pPr marL="0" indent="0" algn="ctr">
              <a:lnSpc>
                <a:spcPct val="104000"/>
              </a:lnSpc>
              <a:buNone/>
            </a:pPr>
            <a:r>
              <a:rPr lang="en-US" sz="1600" b="1" dirty="0">
                <a:solidFill>
                  <a:srgbClr val="333333"/>
                </a:solidFill>
                <a:latin typeface="Inter Bold" pitchFamily="34" charset="0"/>
                <a:ea typeface="Inter Bold" pitchFamily="34" charset="-122"/>
                <a:cs typeface="Inter Bold" pitchFamily="34" charset="-120"/>
              </a:rPr>
              <a:t>Minutes</a:t>
            </a:r>
            <a:endParaRPr lang="en-US" sz="1600" dirty="0"/>
          </a:p>
        </p:txBody>
      </p:sp>
      <p:sp>
        <p:nvSpPr>
          <p:cNvPr id="6" name="Text 4"/>
          <p:cNvSpPr/>
          <p:nvPr/>
        </p:nvSpPr>
        <p:spPr>
          <a:xfrm>
            <a:off x="661475" y="3953570"/>
            <a:ext cx="5330989" cy="264616"/>
          </a:xfrm>
          <a:prstGeom prst="rect">
            <a:avLst/>
          </a:prstGeom>
          <a:noFill/>
          <a:ln/>
        </p:spPr>
        <p:txBody>
          <a:bodyPr wrap="none" lIns="0" tIns="0" rIns="0" bIns="0" rtlCol="0" anchor="t"/>
          <a:lstStyle/>
          <a:p>
            <a:pPr marL="0" indent="0" algn="ctr">
              <a:lnSpc>
                <a:spcPct val="133000"/>
              </a:lnSpc>
              <a:buNone/>
            </a:pPr>
            <a:r>
              <a:rPr lang="en-US" sz="1300" dirty="0">
                <a:solidFill>
                  <a:srgbClr val="333333"/>
                </a:solidFill>
                <a:latin typeface="Inter" pitchFamily="34" charset="0"/>
                <a:ea typeface="Inter" pitchFamily="34" charset="-122"/>
                <a:cs typeface="Inter" pitchFamily="34" charset="-120"/>
              </a:rPr>
              <a:t>Total time allowed for the assessment</a:t>
            </a:r>
            <a:endParaRPr lang="en-US" sz="1300" dirty="0"/>
          </a:p>
        </p:txBody>
      </p:sp>
      <p:sp>
        <p:nvSpPr>
          <p:cNvPr id="7" name="Text 5"/>
          <p:cNvSpPr/>
          <p:nvPr/>
        </p:nvSpPr>
        <p:spPr>
          <a:xfrm>
            <a:off x="6199132" y="2843411"/>
            <a:ext cx="5331089" cy="545802"/>
          </a:xfrm>
          <a:prstGeom prst="rect">
            <a:avLst/>
          </a:prstGeom>
          <a:noFill/>
          <a:ln/>
        </p:spPr>
        <p:txBody>
          <a:bodyPr wrap="none" lIns="0" tIns="0" rIns="0" bIns="0" rtlCol="0" anchor="t"/>
          <a:lstStyle/>
          <a:p>
            <a:pPr marL="0" indent="0" algn="ctr">
              <a:lnSpc>
                <a:spcPct val="83000"/>
              </a:lnSpc>
              <a:buNone/>
            </a:pPr>
            <a:r>
              <a:rPr lang="en-US" sz="4250" b="1" dirty="0">
                <a:solidFill>
                  <a:srgbClr val="333333"/>
                </a:solidFill>
                <a:latin typeface="Inter Bold" pitchFamily="34" charset="0"/>
                <a:ea typeface="Inter Bold" pitchFamily="34" charset="-122"/>
                <a:cs typeface="Inter Bold" pitchFamily="34" charset="-120"/>
              </a:rPr>
              <a:t>80%</a:t>
            </a:r>
            <a:endParaRPr lang="en-US" sz="4250" dirty="0"/>
          </a:p>
        </p:txBody>
      </p:sp>
      <p:sp>
        <p:nvSpPr>
          <p:cNvPr id="8" name="Text 6"/>
          <p:cNvSpPr/>
          <p:nvPr/>
        </p:nvSpPr>
        <p:spPr>
          <a:xfrm>
            <a:off x="6199132" y="3595886"/>
            <a:ext cx="5331089" cy="258465"/>
          </a:xfrm>
          <a:prstGeom prst="rect">
            <a:avLst/>
          </a:prstGeom>
          <a:noFill/>
          <a:ln/>
        </p:spPr>
        <p:txBody>
          <a:bodyPr wrap="none" lIns="0" tIns="0" rIns="0" bIns="0" rtlCol="0" anchor="t"/>
          <a:lstStyle/>
          <a:p>
            <a:pPr marL="0" indent="0" algn="ctr">
              <a:lnSpc>
                <a:spcPct val="104000"/>
              </a:lnSpc>
              <a:buNone/>
            </a:pPr>
            <a:r>
              <a:rPr lang="en-US" sz="1600" b="1" dirty="0">
                <a:solidFill>
                  <a:srgbClr val="333333"/>
                </a:solidFill>
                <a:latin typeface="Inter Bold" pitchFamily="34" charset="0"/>
                <a:ea typeface="Inter Bold" pitchFamily="34" charset="-122"/>
                <a:cs typeface="Inter Bold" pitchFamily="34" charset="-120"/>
              </a:rPr>
              <a:t>Pass Mark</a:t>
            </a:r>
            <a:endParaRPr lang="en-US" sz="1600" dirty="0"/>
          </a:p>
        </p:txBody>
      </p:sp>
      <p:sp>
        <p:nvSpPr>
          <p:cNvPr id="9" name="Text 7"/>
          <p:cNvSpPr/>
          <p:nvPr/>
        </p:nvSpPr>
        <p:spPr>
          <a:xfrm>
            <a:off x="6199132" y="3953570"/>
            <a:ext cx="5331089" cy="264616"/>
          </a:xfrm>
          <a:prstGeom prst="rect">
            <a:avLst/>
          </a:prstGeom>
          <a:noFill/>
          <a:ln/>
        </p:spPr>
        <p:txBody>
          <a:bodyPr wrap="none" lIns="0" tIns="0" rIns="0" bIns="0" rtlCol="0" anchor="t"/>
          <a:lstStyle/>
          <a:p>
            <a:pPr marL="0" indent="0" algn="ctr">
              <a:lnSpc>
                <a:spcPct val="133000"/>
              </a:lnSpc>
              <a:buNone/>
            </a:pPr>
            <a:r>
              <a:rPr lang="en-US" sz="1300" dirty="0">
                <a:solidFill>
                  <a:srgbClr val="333333"/>
                </a:solidFill>
                <a:latin typeface="Inter" pitchFamily="34" charset="0"/>
                <a:ea typeface="Inter" pitchFamily="34" charset="-122"/>
                <a:cs typeface="Inter" pitchFamily="34" charset="-120"/>
              </a:rPr>
              <a:t>Required to achieve a pass on first attempt</a:t>
            </a:r>
            <a:endParaRPr lang="en-US" sz="1300" dirty="0"/>
          </a:p>
        </p:txBody>
      </p:sp>
      <p:sp>
        <p:nvSpPr>
          <p:cNvPr id="10" name="Shape 8"/>
          <p:cNvSpPr/>
          <p:nvPr/>
        </p:nvSpPr>
        <p:spPr>
          <a:xfrm>
            <a:off x="661475" y="4404221"/>
            <a:ext cx="3512653"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1" name="Text 9"/>
          <p:cNvSpPr/>
          <p:nvPr/>
        </p:nvSpPr>
        <p:spPr>
          <a:xfrm>
            <a:off x="845819" y="4588570"/>
            <a:ext cx="314396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Format</a:t>
            </a:r>
            <a:endParaRPr lang="en-US" sz="1600" dirty="0"/>
          </a:p>
        </p:txBody>
      </p:sp>
      <p:sp>
        <p:nvSpPr>
          <p:cNvPr id="12" name="Text 10"/>
          <p:cNvSpPr/>
          <p:nvPr/>
        </p:nvSpPr>
        <p:spPr>
          <a:xfrm>
            <a:off x="845819" y="4946253"/>
            <a:ext cx="3143965" cy="264616"/>
          </a:xfrm>
          <a:prstGeom prst="rect">
            <a:avLst/>
          </a:prstGeom>
          <a:noFill/>
          <a:ln/>
        </p:spPr>
        <p:txBody>
          <a:bodyPr wrap="none" lIns="0" tIns="0" rIns="0" bIns="0" rtlCol="0" anchor="t"/>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Online, individual assessment</a:t>
            </a:r>
            <a:endParaRPr lang="en-US" sz="1300" dirty="0"/>
          </a:p>
        </p:txBody>
      </p:sp>
      <p:sp>
        <p:nvSpPr>
          <p:cNvPr id="13" name="Shape 11"/>
          <p:cNvSpPr/>
          <p:nvPr/>
        </p:nvSpPr>
        <p:spPr>
          <a:xfrm>
            <a:off x="4339422" y="4404221"/>
            <a:ext cx="3512752"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4" name="Text 12"/>
          <p:cNvSpPr/>
          <p:nvPr/>
        </p:nvSpPr>
        <p:spPr>
          <a:xfrm>
            <a:off x="4523766" y="4588570"/>
            <a:ext cx="3144064"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Question Types</a:t>
            </a:r>
            <a:endParaRPr lang="en-US" sz="1600" dirty="0"/>
          </a:p>
        </p:txBody>
      </p:sp>
      <p:sp>
        <p:nvSpPr>
          <p:cNvPr id="15" name="Text 13"/>
          <p:cNvSpPr/>
          <p:nvPr/>
        </p:nvSpPr>
        <p:spPr>
          <a:xfrm>
            <a:off x="4523766" y="4946253"/>
            <a:ext cx="31440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Multiple-choice and situational judgement</a:t>
            </a:r>
            <a:endParaRPr lang="en-US" sz="1300" dirty="0"/>
          </a:p>
        </p:txBody>
      </p:sp>
      <p:sp>
        <p:nvSpPr>
          <p:cNvPr id="16" name="Shape 14"/>
          <p:cNvSpPr/>
          <p:nvPr/>
        </p:nvSpPr>
        <p:spPr>
          <a:xfrm>
            <a:off x="8017468" y="4404221"/>
            <a:ext cx="3512653" cy="1255613"/>
          </a:xfrm>
          <a:prstGeom prst="roundRect">
            <a:avLst>
              <a:gd name="adj" fmla="val 19758"/>
            </a:avLst>
          </a:prstGeom>
          <a:solidFill>
            <a:srgbClr val="F5F5F5">
              <a:alpha val="95000"/>
            </a:srgbClr>
          </a:solidFill>
          <a:ln w="19050">
            <a:solidFill>
              <a:srgbClr val="D0C8C8"/>
            </a:solidFill>
            <a:prstDash val="solid"/>
          </a:ln>
          <a:effectLst>
            <a:outerShdw blurRad="127" dist="21590" dir="2700000" algn="bl" rotWithShape="0">
              <a:srgbClr val="D0C8C8">
                <a:alpha val="100000"/>
              </a:srgbClr>
            </a:outerShdw>
          </a:effectLst>
        </p:spPr>
        <p:txBody>
          <a:bodyPr/>
          <a:lstStyle/>
          <a:p>
            <a:endParaRPr lang="en-GB"/>
          </a:p>
        </p:txBody>
      </p:sp>
      <p:sp>
        <p:nvSpPr>
          <p:cNvPr id="17" name="Text 15"/>
          <p:cNvSpPr/>
          <p:nvPr/>
        </p:nvSpPr>
        <p:spPr>
          <a:xfrm>
            <a:off x="8201812" y="4588570"/>
            <a:ext cx="3143965" cy="258465"/>
          </a:xfrm>
          <a:prstGeom prst="rect">
            <a:avLst/>
          </a:prstGeom>
          <a:noFill/>
          <a:ln/>
        </p:spPr>
        <p:txBody>
          <a:bodyPr wrap="none" lIns="0" tIns="0" rIns="0" bIns="0" rtlCol="0" anchor="t"/>
          <a:lstStyle/>
          <a:p>
            <a:pPr marL="0" indent="0" algn="l">
              <a:lnSpc>
                <a:spcPct val="104000"/>
              </a:lnSpc>
              <a:buNone/>
            </a:pPr>
            <a:r>
              <a:rPr lang="en-US" sz="1600" b="1" dirty="0">
                <a:solidFill>
                  <a:srgbClr val="333333"/>
                </a:solidFill>
                <a:latin typeface="Inter Bold" pitchFamily="34" charset="0"/>
                <a:ea typeface="Inter Bold" pitchFamily="34" charset="-122"/>
                <a:cs typeface="Inter Bold" pitchFamily="34" charset="-120"/>
              </a:rPr>
              <a:t>Coaching Rule</a:t>
            </a:r>
            <a:endParaRPr lang="en-US" sz="1600" dirty="0"/>
          </a:p>
        </p:txBody>
      </p:sp>
      <p:sp>
        <p:nvSpPr>
          <p:cNvPr id="18" name="Text 16"/>
          <p:cNvSpPr/>
          <p:nvPr/>
        </p:nvSpPr>
        <p:spPr>
          <a:xfrm>
            <a:off x="8201812" y="4946253"/>
            <a:ext cx="314396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333"/>
                </a:solidFill>
                <a:latin typeface="Inter" pitchFamily="34" charset="0"/>
                <a:ea typeface="Inter" pitchFamily="34" charset="-122"/>
                <a:cs typeface="Inter" pitchFamily="34" charset="-120"/>
              </a:rPr>
              <a:t>No coaching or assistance during the assessment</a:t>
            </a:r>
            <a:endParaRPr lang="en-US" sz="1300" dirty="0"/>
          </a:p>
        </p:txBody>
      </p:sp>
      <p:pic>
        <p:nvPicPr>
          <p:cNvPr id="20" name="RRTA corner logo" descr="Rapid Response Training Academy logo">
            <a:extLst>
              <a:ext uri="{FF2B5EF4-FFF2-40B4-BE49-F238E27FC236}">
                <a16:creationId xmlns:a16="http://schemas.microsoft.com/office/drawing/2014/main" id="{303A6879-3315-4CAD-14D4-23E49942A929}"/>
              </a:ext>
            </a:extLst>
          </p:cNvPr>
          <p:cNvPicPr>
            <a:picLocks noChangeAspect="1"/>
          </p:cNvPicPr>
          <p:nvPr/>
        </p:nvPicPr>
        <p:blipFill>
          <a:blip r:embed="rId3">
            <a:alphaModFix amt="68000"/>
          </a:blip>
          <a:srcRect l="3426" t="9288" r="5640" b="9409"/>
          <a:stretch>
            <a:fillRect/>
          </a:stretch>
        </p:blipFill>
        <p:spPr>
          <a:xfrm>
            <a:off x="164592" y="45720"/>
            <a:ext cx="1078992" cy="4215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dcb49ae-c97f-40c0-a91a-a53ca5271021" xsi:nil="true"/>
    <lcf76f155ced4ddcb4097134ff3c332f xmlns="d05eb8fa-6ac2-4994-a1e7-f9492ada60e8">
      <Terms xmlns="http://schemas.microsoft.com/office/infopath/2007/PartnerControls"/>
    </lcf76f155ced4ddcb4097134ff3c332f>
    <BP66JWX xmlns="d05eb8fa-6ac2-4994-a1e7-f9492ada60e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8C99D60F7A1994E8131D921F18BF56A" ma:contentTypeVersion="22" ma:contentTypeDescription="Create a new document." ma:contentTypeScope="" ma:versionID="3df69aba55528c0278c09ea5694e0e89">
  <xsd:schema xmlns:xsd="http://www.w3.org/2001/XMLSchema" xmlns:xs="http://www.w3.org/2001/XMLSchema" xmlns:p="http://schemas.microsoft.com/office/2006/metadata/properties" xmlns:ns1="http://schemas.microsoft.com/sharepoint/v3" xmlns:ns2="d05eb8fa-6ac2-4994-a1e7-f9492ada60e8" xmlns:ns3="adcb49ae-c97f-40c0-a91a-a53ca5271021" targetNamespace="http://schemas.microsoft.com/office/2006/metadata/properties" ma:root="true" ma:fieldsID="7834d349d047f7ded64ccaa3cb2a5573" ns1:_="" ns2:_="" ns3:_="">
    <xsd:import namespace="http://schemas.microsoft.com/sharepoint/v3"/>
    <xsd:import namespace="d05eb8fa-6ac2-4994-a1e7-f9492ada60e8"/>
    <xsd:import namespace="adcb49ae-c97f-40c0-a91a-a53ca527102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BP66JWX"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05eb8fa-6ac2-4994-a1e7-f9492ada60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fef7d8ee-b496-401e-a2af-8480e1bdbd2c" ma:termSetId="09814cd3-568e-fe90-9814-8d621ff8fb84" ma:anchorId="fba54fb3-c3e1-fe81-a776-ca4b69148c4d" ma:open="true" ma:isKeyword="false">
      <xsd:complexType>
        <xsd:sequence>
          <xsd:element ref="pc:Terms" minOccurs="0" maxOccurs="1"/>
        </xsd:sequence>
      </xsd:complexType>
    </xsd:element>
    <xsd:element name="BP66JWX" ma:index="24" nillable="true" ma:displayName="BP66 JWX" ma:format="Dropdown" ma:internalName="BP66JWX">
      <xsd:simpleType>
        <xsd:restriction base="dms:Text">
          <xsd:maxLength value="255"/>
        </xsd:restriction>
      </xsd:simple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dcb49ae-c97f-40c0-a91a-a53ca527102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5256928-5282-47f1-aea5-a73a571c5e63}" ma:internalName="TaxCatchAll" ma:showField="CatchAllData" ma:web="adcb49ae-c97f-40c0-a91a-a53ca527102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D84590-8B18-415A-8329-33C0A27F2D3E}">
  <ds:schemaRefs>
    <ds:schemaRef ds:uri="http://schemas.microsoft.com/office/2006/metadata/properties"/>
    <ds:schemaRef ds:uri="http://schemas.microsoft.com/office/infopath/2007/PartnerControls"/>
    <ds:schemaRef ds:uri="http://schemas.microsoft.com/sharepoint/v3"/>
    <ds:schemaRef ds:uri="adcb49ae-c97f-40c0-a91a-a53ca5271021"/>
    <ds:schemaRef ds:uri="d05eb8fa-6ac2-4994-a1e7-f9492ada60e8"/>
  </ds:schemaRefs>
</ds:datastoreItem>
</file>

<file path=customXml/itemProps2.xml><?xml version="1.0" encoding="utf-8"?>
<ds:datastoreItem xmlns:ds="http://schemas.openxmlformats.org/officeDocument/2006/customXml" ds:itemID="{091A9665-0F31-418D-94F7-214CD45E9E33}">
  <ds:schemaRefs>
    <ds:schemaRef ds:uri="http://schemas.microsoft.com/sharepoint/v3/contenttype/forms"/>
  </ds:schemaRefs>
</ds:datastoreItem>
</file>

<file path=customXml/itemProps3.xml><?xml version="1.0" encoding="utf-8"?>
<ds:datastoreItem xmlns:ds="http://schemas.openxmlformats.org/officeDocument/2006/customXml" ds:itemID="{6C8FB864-DE3B-443D-831F-336D2DBF38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05eb8fa-6ac2-4994-a1e7-f9492ada60e8"/>
    <ds:schemaRef ds:uri="adcb49ae-c97f-40c0-a91a-a53ca52710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TotalTime>
  <Words>3547</Words>
  <Application>Microsoft Office PowerPoint</Application>
  <PresentationFormat>Widescreen</PresentationFormat>
  <Paragraphs>276</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Inter Bold</vt:lpstr>
      <vt:lpstr>Inter</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Wesley Marsden</dc:creator>
  <cp:lastModifiedBy>Wesley Marsden</cp:lastModifiedBy>
  <cp:revision>2</cp:revision>
  <dcterms:created xsi:type="dcterms:W3CDTF">2026-08-27T09:35:40Z</dcterms:created>
  <dcterms:modified xsi:type="dcterms:W3CDTF">2026-08-27T11:55:25Z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0x01010098C99D60F7A1994E8131D921F18BF56A</vt:lpwstr>
  </property>
  <property fmtid="{D5CDD505-2E9C-101B-9397-08002B2CF9AE}" pid="3" name="MediaServiceImageTags">
    <vt:lpwstr/>
  </property>
</Properties>
</file>